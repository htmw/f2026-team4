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_inserted1.xml" ContentType="application/vnd.openxmlformats-officedocument.presentationml.slide+xml"/>
  <Override PartName="/ppt/slideLayouts/slideLayout6_inserted1.xml" ContentType="application/vnd.openxmlformats-officedocument.presentationml.slideLayout+xml"/>
  <Override PartName="/ppt/slideMasters/slideMaster1_inserted1.xml" ContentType="application/vnd.openxmlformats-officedocument.presentationml.slideMaster+xml"/>
  <Override PartName="/ppt/slideMasters/theme/theme2_inserted1.xml" ContentType="application/vnd.openxmlformats-officedocument.theme+xml"/>
  <Override PartName="/ppt/slideLayouts/slideLayout1_inserted1.xml" ContentType="application/vnd.openxmlformats-officedocument.presentationml.slideLayout+xml"/>
  <Override PartName="/ppt/slideLayouts/slideLayout2_inserted1.xml" ContentType="application/vnd.openxmlformats-officedocument.presentationml.slideLayout+xml"/>
  <Override PartName="/ppt/slideLayouts/slideLayout3_inserted1.xml" ContentType="application/vnd.openxmlformats-officedocument.presentationml.slideLayout+xml"/>
  <Override PartName="/ppt/slideLayouts/slideLayout4_inserted1.xml" ContentType="application/vnd.openxmlformats-officedocument.presentationml.slideLayout+xml"/>
  <Override PartName="/ppt/slideLayouts/slideLayout5_inserted1.xml" ContentType="application/vnd.openxmlformats-officedocument.presentationml.slideLayout+xml"/>
  <Override PartName="/ppt/slides/slide2_inserted1.xml" ContentType="application/vnd.openxmlformats-officedocument.presentationml.slide+xml"/>
  <Override PartName="/ppt/slides/slide3_inserted1.xml" ContentType="application/vnd.openxmlformats-officedocument.presentationml.slide+xml"/>
  <Override PartName="/ppt/slides/slide4_inserted1.xml" ContentType="application/vnd.openxmlformats-officedocument.presentationml.slide+xml"/>
  <Override PartName="/ppt/slides/slide5_inserted1.xml" ContentType="application/vnd.openxmlformats-officedocument.presentationml.slide+xml"/>
  <Override PartName="/ppt/slides/slide6_inserted1.xml" ContentType="application/vnd.openxmlformats-officedocument.presentationml.slide+xml"/>
  <Override PartName="/ppt/slides/slide1_inserted2.xml" ContentType="application/vnd.openxmlformats-officedocument.presentationml.slide+xml"/>
  <Override PartName="/ppt/slideLayouts/slideLayout7_inserted1.xml" ContentType="application/vnd.openxmlformats-officedocument.presentationml.slideLayout+xml"/>
  <Override PartName="/ppt/slideMasters/slideMaster1_inserted2.xml" ContentType="application/vnd.openxmlformats-officedocument.presentationml.slideMaster+xml"/>
  <Override PartName="/ppt/slideLayouts/slideLayout1_inserted2.xml" ContentType="application/vnd.openxmlformats-officedocument.presentationml.slideLayout+xml"/>
  <Override PartName="/ppt/slideLayouts/slideLayout2_inserted2.xml" ContentType="application/vnd.openxmlformats-officedocument.presentationml.slideLayout+xml"/>
  <Override PartName="/ppt/slideLayouts/slideLayout3_inserted2.xml" ContentType="application/vnd.openxmlformats-officedocument.presentationml.slideLayout+xml"/>
  <Override PartName="/ppt/slideLayouts/slideLayout4_inserted2.xml" ContentType="application/vnd.openxmlformats-officedocument.presentationml.slideLayout+xml"/>
  <Override PartName="/ppt/slideLayouts/slideLayout5_inserted2.xml" ContentType="application/vnd.openxmlformats-officedocument.presentationml.slideLayout+xml"/>
  <Override PartName="/ppt/slideLayouts/slideLayout6_inserted2.xml" ContentType="application/vnd.openxmlformats-officedocument.presentationml.slideLayout+xml"/>
  <Override PartName="/ppt/slideLayouts/slideLayout8_inserted1.xml" ContentType="application/vnd.openxmlformats-officedocument.presentationml.slideLayout+xml"/>
  <Override PartName="/ppt/slideLayouts/slideLayout9_inserted1.xml" ContentType="application/vnd.openxmlformats-officedocument.presentationml.slideLayout+xml"/>
  <Override PartName="/ppt/slideLayouts/slideLayout10_inserted1.xml" ContentType="application/vnd.openxmlformats-officedocument.presentationml.slideLayout+xml"/>
  <Override PartName="/ppt/slideLayouts/slideLayout11_inserted1.xml" ContentType="application/vnd.openxmlformats-officedocument.presentationml.slideLayout+xml"/>
  <Override PartName="/ppt/theme/theme1_inserted1.xml" ContentType="application/vnd.openxmlformats-officedocument.theme+xml"/>
  <Override PartName="/ppt/slides/slide2_inserted2.xml" ContentType="application/vnd.openxmlformats-officedocument.presentationml.slide+xml"/>
  <Override PartName="/ppt/slides/slide3_inserted2.xml" ContentType="application/vnd.openxmlformats-officedocument.presentationml.slide+xml"/>
  <Override PartName="/ppt/slides/slide4_inserted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0" r:id="rIdPersonaMaster0"/>
    <p:sldMasterId id="2147484700" r:id="rIdStatusMaster0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1000" r:id="rIdPersona1"/>
    <p:sldId id="1001" r:id="rIdPersona2"/>
    <p:sldId id="1002" r:id="rIdPersona3"/>
    <p:sldId id="1003" r:id="rIdPersona4"/>
    <p:sldId id="1004" r:id="rIdPersona5"/>
    <p:sldId id="1005" r:id="rIdPersona6"/>
    <p:sldId id="2001" r:id="rIdStatusInsert1"/>
    <p:sldId id="2002" r:id="rIdStatusInsert2"/>
    <p:sldId id="282" r:id="rId34"/>
    <p:sldId id="283" r:id="rId35"/>
    <p:sldId id="284" r:id="rId36"/>
    <p:sldId id="2003" r:id="rIdStatusInsert3"/>
    <p:sldId id="2004" r:id="rIdStatusInsert4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Persona1" Type="http://schemas.openxmlformats.org/officeDocument/2006/relationships/slide" Target="slides/slide1_inserted1.xml"/><Relationship Id="rIdPersona2" Type="http://schemas.openxmlformats.org/officeDocument/2006/relationships/slide" Target="slides/slide2_inserted1.xml"/><Relationship Id="rIdPersona3" Type="http://schemas.openxmlformats.org/officeDocument/2006/relationships/slide" Target="slides/slide3_inserted1.xml"/><Relationship Id="rIdPersona4" Type="http://schemas.openxmlformats.org/officeDocument/2006/relationships/slide" Target="slides/slide4_inserted1.xml"/><Relationship Id="rIdPersona5" Type="http://schemas.openxmlformats.org/officeDocument/2006/relationships/slide" Target="slides/slide5_inserted1.xml"/><Relationship Id="rIdPersona6" Type="http://schemas.openxmlformats.org/officeDocument/2006/relationships/slide" Target="slides/slide6_inserted1.xml"/><Relationship Id="rIdPersonaMaster0" Type="http://schemas.openxmlformats.org/officeDocument/2006/relationships/slideMaster" Target="slideMasters/slideMaster1_inserted1.xml"/><Relationship Id="rIdStatusInsert1" Type="http://schemas.openxmlformats.org/officeDocument/2006/relationships/slide" Target="slides/slide1_inserted2.xml"/><Relationship Id="rIdStatusInsert2" Type="http://schemas.openxmlformats.org/officeDocument/2006/relationships/slide" Target="slides/slide2_inserted2.xml"/><Relationship Id="rIdStatusInsert3" Type="http://schemas.openxmlformats.org/officeDocument/2006/relationships/slide" Target="slides/slide3_inserted2.xml"/><Relationship Id="rIdStatusInsert4" Type="http://schemas.openxmlformats.org/officeDocument/2006/relationships/slide" Target="slides/slide4_inserted2.xml"/><Relationship Id="rIdStatusMaster0" Type="http://schemas.openxmlformats.org/officeDocument/2006/relationships/slideMaster" Target="slideMasters/slideMaster1_inserted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story points</c:v>
                </c:pt>
              </c:strCache>
            </c:strRef>
          </c:tx>
          <c:spPr>
            <a:solidFill>
              <a:srgbClr val="167B80"/>
            </a:solidFill>
          </c:spPr>
          <c:cat>
            <c:strRef>
              <c:f>Sheet1!$A$2:$A$2</c:f>
              <c:strCache>
                <c:ptCount val="1"/>
                <c:pt idx="0">
                  <c:v>Sprint 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dLbls>
          <c:txPr>
            <a:bodyPr/>
            <a:lstStyle/>
            <a:p>
              <a:pPr>
                <a:defRPr sz="2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600">
          <a:solidFill>
            <a:srgbClr val="202F3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remaining</c:v>
                </c:pt>
              </c:strCache>
            </c:strRef>
          </c:tx>
          <c:spPr>
            <a:ln w="38100">
              <a:solidFill>
                <a:srgbClr val="9CAFB3"/>
              </a:solidFill>
            </a:ln>
          </c:spPr>
          <c:cat>
            <c:strRef>
              <c:f>Sheet1!$A$2:$A$6</c:f>
              <c:strCache>
                <c:ptCount val="5"/>
                <c:pt idx="0">
                  <c:v>Sep 21</c:v>
                </c:pt>
                <c:pt idx="1">
                  <c:v>Sep 28</c:v>
                </c:pt>
                <c:pt idx="2">
                  <c:v>Oct 05</c:v>
                </c:pt>
                <c:pt idx="3">
                  <c:v>Oct 12</c:v>
                </c:pt>
                <c:pt idx="4">
                  <c:v>Oct 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27</c:v>
                </c:pt>
                <c:pt idx="2">
                  <c:v>18</c:v>
                </c:pt>
                <c:pt idx="3">
                  <c:v>9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remaining</c:v>
                </c:pt>
              </c:strCache>
            </c:strRef>
          </c:tx>
          <c:spPr>
            <a:ln w="38100">
              <a:solidFill>
                <a:srgbClr val="167B80"/>
              </a:solidFill>
            </a:ln>
          </c:spPr>
          <c:cat>
            <c:strRef>
              <c:f>Sheet1!$A$2:$A$6</c:f>
              <c:strCache>
                <c:ptCount val="5"/>
                <c:pt idx="0">
                  <c:v>Sep 21</c:v>
                </c:pt>
                <c:pt idx="1">
                  <c:v>Sep 28</c:v>
                </c:pt>
                <c:pt idx="2">
                  <c:v>Oct 05</c:v>
                </c:pt>
                <c:pt idx="3">
                  <c:v>Oct 12</c:v>
                </c:pt>
                <c:pt idx="4">
                  <c:v>Oct 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32</c:v>
                </c:pt>
                <c:pt idx="4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  <c:majorUnit val="10.0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600">
          <a:solidFill>
            <a:srgbClr val="202F3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Story points</c:v>
                </c:pt>
              </c:strCache>
            </c:strRef>
          </c:tx>
          <c:dPt>
            <c:idx val="0"/>
            <c:spPr>
              <a:solidFill>
                <a:srgbClr val="167B80"/>
              </a:solidFill>
            </c:spPr>
          </c:dPt>
          <c:dPt>
            <c:idx val="1"/>
            <c:spPr>
              <a:solidFill>
                <a:srgbClr val="DCE5E7"/>
              </a:solidFill>
            </c:spPr>
          </c:dPt>
          <c:cat>
            <c:strRef>
              <c:f>Sheet1!$A$2:$A$3</c:f>
              <c:strCache>
                <c:ptCount val="2"/>
                <c:pt idx="0">
                  <c:v>Completed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</c:legend>
    <c:plotVisOnly val="1"/>
    <c:dispBlanksAs val="gap"/>
    <c:showDLblsOverMax val="0"/>
  </c:chart>
  <c:txPr>
    <a:bodyPr/>
    <a:lstStyle/>
    <a:p>
      <a:pPr>
        <a:defRPr sz="1600">
          <a:solidFill>
            <a:srgbClr val="202F36"/>
          </a:solidFill>
          <a:latin typeface="Aptos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4cba88ada4284516"/></Relationships>
</file>

<file path=ppt/slideLayouts/_rels/slideLayout1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7ead87f173c34189"/></Relationships>
</file>

<file path=ppt/slideLayouts/_rels/slideLayout2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4f10076251ff405b"/></Relationships>
</file>

<file path=ppt/slideLayouts/_rels/slideLayout3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6b7e69927f204d9b"/></Relationships>
</file>

<file path=ppt/slideLayouts/_rels/slideLayout4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ec05eba7bb0e4959"/></Relationships>
</file>

<file path=ppt/slideLayouts/_rels/slideLayout5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_inserted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_inserted1.xml" Id="R4e6c012edc164294"/></Relationships>
</file>

<file path=ppt/slideLayouts/_rels/slideLayout6_inserted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_inserted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_inserted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_inserted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_inserted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_inserted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_inserted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_inserted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282D8A-4D91-4998-9FB0-8771AD1B90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283D18-947D-4D06-B403-EE9F2EA5B6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_inserted1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3BA1CD-5FB3-49C8-8044-DA97EF362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_inserted1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B56BA4-367C-4100-A5B7-9869D2D80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A34B41-C491-4F49-9EFE-63B0C4CFA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_inserted1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41C71B-929F-4CF1-98BF-C8DA73821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40A9C3-6DD3-45E5-B296-188E8DA61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80E2BA-A7A9-45AE-A63A-BE7C414501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_inserted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44CC45-A3A2-45B1-B757-56643D6FF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B8497-C1B6-4ECC-A9D6-C2E6B90FA0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_inserted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_inserted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_inserted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_inserted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_inserted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_inserted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_inserted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_inserted1.xml.rels><?xml version='1.0' encoding='UTF-8' standalone='yes'?>
<Relationships xmlns="http://schemas.openxmlformats.org/package/2006/relationships"><Relationship Type="http://schemas.openxmlformats.org/officeDocument/2006/relationships/theme" Target="theme/theme2_inserted1.xml" Id="Rc5395a756e534931"/><Relationship Type="http://schemas.openxmlformats.org/officeDocument/2006/relationships/slideLayout" Target="../slideLayouts/slideLayout1_inserted1.xml" Id="R66437312e9f84688"/><Relationship Type="http://schemas.openxmlformats.org/officeDocument/2006/relationships/slideLayout" Target="../slideLayouts/slideLayout2_inserted1.xml" Id="Re5d58dfc645044dd"/><Relationship Type="http://schemas.openxmlformats.org/officeDocument/2006/relationships/slideLayout" Target="../slideLayouts/slideLayout3_inserted1.xml" Id="R0f295871f3ee4254"/><Relationship Type="http://schemas.openxmlformats.org/officeDocument/2006/relationships/slideLayout" Target="../slideLayouts/slideLayout4_inserted1.xml" Id="R02ee8162201d4096"/><Relationship Type="http://schemas.openxmlformats.org/officeDocument/2006/relationships/slideLayout" Target="../slideLayouts/slideLayout5_inserted1.xml" Id="R13dfdf8926da4bf7"/><Relationship Type="http://schemas.openxmlformats.org/officeDocument/2006/relationships/slideLayout" Target="../slideLayouts/slideLayout6_inserted1.xml" Id="Rb3c7b4acb4ee43ee"/></Relationships>
</file>

<file path=ppt/slideMasters/_rels/slideMaster1_inserted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_inserted2.xml"/><Relationship Id="rId2" Type="http://schemas.openxmlformats.org/officeDocument/2006/relationships/slideLayout" Target="../slideLayouts/slideLayout2_inserted2.xml"/><Relationship Id="rId3" Type="http://schemas.openxmlformats.org/officeDocument/2006/relationships/slideLayout" Target="../slideLayouts/slideLayout3_inserted2.xml"/><Relationship Id="rId4" Type="http://schemas.openxmlformats.org/officeDocument/2006/relationships/slideLayout" Target="../slideLayouts/slideLayout4_inserted2.xml"/><Relationship Id="rId5" Type="http://schemas.openxmlformats.org/officeDocument/2006/relationships/slideLayout" Target="../slideLayouts/slideLayout5_inserted2.xml"/><Relationship Id="rId6" Type="http://schemas.openxmlformats.org/officeDocument/2006/relationships/slideLayout" Target="../slideLayouts/slideLayout6_inserted2.xml"/><Relationship Id="rId7" Type="http://schemas.openxmlformats.org/officeDocument/2006/relationships/slideLayout" Target="../slideLayouts/slideLayout7_inserted1.xml"/><Relationship Id="rId8" Type="http://schemas.openxmlformats.org/officeDocument/2006/relationships/slideLayout" Target="../slideLayouts/slideLayout8_inserted1.xml"/><Relationship Id="rId9" Type="http://schemas.openxmlformats.org/officeDocument/2006/relationships/slideLayout" Target="../slideLayouts/slideLayout9_inserted1.xml"/><Relationship Id="rId10" Type="http://schemas.openxmlformats.org/officeDocument/2006/relationships/slideLayout" Target="../slideLayouts/slideLayout10_inserted1.xml"/><Relationship Id="rId11" Type="http://schemas.openxmlformats.org/officeDocument/2006/relationships/slideLayout" Target="../slideLayouts/slideLayout11_inserted1.xml"/><Relationship Id="rId12" Type="http://schemas.openxmlformats.org/officeDocument/2006/relationships/theme" Target="../theme/theme1_inserted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_inserted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801" r:id="R66437312e9f84688"/>
    <p:sldLayoutId xmlns:r="http://schemas.openxmlformats.org/officeDocument/2006/relationships" id="2147483802" r:id="Re5d58dfc645044dd"/>
    <p:sldLayoutId xmlns:r="http://schemas.openxmlformats.org/officeDocument/2006/relationships" id="2147483803" r:id="R0f295871f3ee4254"/>
    <p:sldLayoutId xmlns:r="http://schemas.openxmlformats.org/officeDocument/2006/relationships" id="2147483804" r:id="R02ee8162201d4096"/>
    <p:sldLayoutId xmlns:r="http://schemas.openxmlformats.org/officeDocument/2006/relationships" id="2147483805" r:id="R13dfdf8926da4bf7"/>
    <p:sldLayoutId xmlns:r="http://schemas.openxmlformats.org/officeDocument/2006/relationships" id="2147483806" r:id="Rb3c7b4acb4ee43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_inserted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_inserted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bf7456c7b0d7440d"/></Relationships>
</file>

<file path=ppt/slides/_rels/slide1_inserted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inserted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1ed542e63a2c497a"/></Relationships>
</file>

<file path=ppt/slides/_rels/slide2_inserted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inserted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4e6190c56b9e4614"/></Relationships>
</file>

<file path=ppt/slides/_rels/slide3_inserted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inserted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ae9aedc305544700"/></Relationships>
</file>

<file path=ppt/slides/_rels/slide4_inserted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_inserted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tmw/F2026-Team4/wiki" TargetMode="External"/></Relationships>
</file>

<file path=ppt/slides/_rels/slide5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d4f205d809b447d2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_inserted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_inserted1.xml" Id="Rc850e715ffc5465b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_merged2.png"/><Relationship Id="rId3" Type="http://schemas.openxmlformats.org/officeDocument/2006/relationships/image" Target="../media/image2_merged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_merged2.png"/><Relationship Id="rId3" Type="http://schemas.openxmlformats.org/officeDocument/2006/relationships/image" Target="../media/image2_merged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hyperlink" Target="https://github.com/htmw/F2026-Team4" TargetMode="External"/><Relationship Id="rId4" Type="http://schemas.openxmlformats.org/officeDocument/2006/relationships/hyperlink" Target="https://github.com/htmw/F2026-Team4/wiki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Wanderwise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Sprint 1 Review &amp; Sprint 2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698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4200" b="1">
                <a:solidFill>
                  <a:srgbClr val="143F46"/>
                </a:solidFill>
                <a:latin typeface="Aptos"/>
              </a:rPr>
              <a:t>Personalized travel.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4200" b="1">
                <a:solidFill>
                  <a:srgbClr val="143F46"/>
                </a:solidFill>
                <a:latin typeface="Aptos"/>
              </a:rPr>
              <a:t>Realistic daily plans.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931920"/>
            <a:ext cx="10149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Project design • Sprint 1 evidence &amp; metrics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Retrospective • Sprint 2 planning • Application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5595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900" b="0">
                <a:solidFill>
                  <a:srgbClr val="167B80"/>
                </a:solidFill>
                <a:latin typeface="Aptos"/>
              </a:rPr>
              <a:t>CS-691  |  Fall 2026  |  Team F2026-Team4</a:t>
            </a:r>
          </a:p>
        </p:txBody>
      </p:sp>
    </p:spTree>
  </p:cSld>
  <p:clrMapOvr>
    <a:masterClrMapping/>
  </p:clrMapOvr>
</p:sld>
</file>

<file path=ppt/slides/slide1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BF741-0D7D-41F7-BB82-8C68C7FA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F1CED-B6E6-4E0B-9B8F-2F0C22AD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Summary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EEEA4-56EF-4719-8720-F1B3A8C9939A}"/>
              </a:ext>
            </a:extLst>
          </p:cNvPr>
          <p:cNvGraphicFramePr/>
          <p:nvPr/>
        </p:nvGraphicFramePr>
        <p:xfrm>
          <a:off xmlns:a="http://schemas.openxmlformats.org/drawingml/2006/main" x="1857375" y="2238375"/>
          <a:ext xmlns:a="http://schemas.openxmlformats.org/drawingml/2006/main" cx="847725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000125"/>
                <a:gridCol w="1000125"/>
                <a:gridCol w="1000125"/>
                <a:gridCol w="2333625"/>
              </a:tblGrid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Module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T w="6668">
                      <a:solidFill>
                        <a:srgbClr val="AEC2CC"/>
                      </a:solidFill>
                      <a:prstDash val="solid"/>
                    </a:lnT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T w="6668">
                      <a:solidFill>
                        <a:srgbClr val="AEC2CC"/>
                      </a:solidFill>
                      <a:prstDash val="solid"/>
                    </a:lnT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T w="6668">
                      <a:solidFill>
                        <a:srgbClr val="AEC2CC"/>
                      </a:solidFill>
                      <a:prstDash val="solid"/>
                    </a:lnT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T w="6668">
                      <a:solidFill>
                        <a:srgbClr val="AEC2CC"/>
                      </a:solidFill>
                      <a:prstDash val="solid"/>
                    </a:lnT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T w="6668">
                      <a:solidFill>
                        <a:srgbClr val="AEC2CC"/>
                      </a:solidFill>
                      <a:prstDash val="solid"/>
                    </a:lnT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Frontend - Interest preferences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Frontend - Trip details and limits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Frontend - Blank daily times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Backend - Saved trips and feedback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96%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Backend - Lisbon data processing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92%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Backend - Ranking model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88%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Backend - Optimizer and scheduler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AEC2CC"/>
                      </a:solidFill>
                      <a:prstDash val="solid"/>
                    </a:lnL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92%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AEC2CC"/>
                      </a:solidFill>
                      <a:prstDash val="solid"/>
                    </a:lnR>
                    <a:lnB w="6668">
                      <a:solidFill>
                        <a:srgbClr val="AEC2CC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2187D-BBCC-426F-815C-C60923AB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1497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Stack: React | TypeScript | Vite | Python | FastAPI | LightGBM</a:t>
            </a:r>
          </a:p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Testing: Vitest | React Testing Library | pytest | Coverage.py</a:t>
            </a:r>
          </a:p>
        </p:txBody>
      </p:sp>
    </p:spTree>
    <p:extLst>
      <p:ext uri="{BB962C8B-B14F-4D97-AF65-F5344CB8AC3E}">
        <p14:creationId xmlns:p14="http://schemas.microsoft.com/office/powerpoint/2010/main" val="1834962217"/>
      </p:ext>
    </p:extLst>
  </p:cSld>
</p:sld>
</file>

<file path=ppt/slides/slide1_inserted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Stories |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Dates intentionally omitted. Status reflects the latest project updates shared.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500000"/>
          <a:ext cx="10945367" cy="4522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6858000"/>
                <a:gridCol w="2350007"/>
              </a:tblGrid>
              <a:tr h="26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Completed story / deliverable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DS-1 — Real Lisbon dataset (6,073 places); other cities rejected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DS-2 — Hours and prices labeled known, inferred, or unknown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DS-3 — Walking and transit travel-time estimates between places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DS-4 — Duplicate sights merged; each sight appears once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DS-5 — Popularity score added for attraction ranking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DS-6 — One-command data rebuild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DS-7 — Data coverage report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DS-8 — Weather forecast support for rainy-day planning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Frontend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Dashboard UI improvements; sample Lisbon itinerary displayed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Frontend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PR #11 reviewed and merged into main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Merged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Platform/API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Repository setup, CI, Makefile, design docs, subfolder READMEs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Merged; CI passing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Platform/API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 contracts, category vocabulary, Lisbon fixtures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Merged; CI passing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Platform/API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FastAPI planning, saved trips, trip retrieval, feedback/re-planning, validation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Implemented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Model &amp; Ranking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Personalized attraction scoring and learning-to-rank recommender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Implemented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Testing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Frontend, saved-trip/feedback APIs, ranking and optimizer checks in PR #12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Uploaded in PR #12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6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Testing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191 existing tests passed in the reported test run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6B3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Approved sequence, with restored story coverage and actual application screenshots.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01  Project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2199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Team photos and roles, feedback improvements, description, and working agreement.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62071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34639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02  Product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7355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Three personas, MVP scope, technologies, algorithms, and six system diagrams.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1363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8620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03  Sprint 1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25112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Product backlog, user stories, sprint backlog, tasks, tests, statuses, and metrics.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6519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937759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04  Next steps &amp; demonstration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37667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Retrospective, two-slide Sprint 2 plan, actual screenshots, API evidence, and live demo.</a:t>
            </a:r>
          </a:p>
        </p:txBody>
      </p:sp>
    </p:spTree>
  </p:cSld>
  <p:clrMapOvr>
    <a:masterClrMapping/>
  </p:clrMapOvr>
</p:sld>
</file>

<file path=ppt/slides/slide2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F34E8-7FC3-4F48-8F49-7C0D283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 - Frontend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4C46A-5683-4940-8AA9-55DFEEBED431}"/>
              </a:ext>
            </a:extLst>
          </p:cNvPr>
          <p:cNvGraphicFramePr/>
          <p:nvPr/>
        </p:nvGraphicFramePr>
        <p:xfrm>
          <a:off xmlns:a="http://schemas.openxmlformats.org/drawingml/2006/main" x="2190750" y="1343025"/>
          <a:ext xmlns:a="http://schemas.openxmlformats.org/drawingml/2006/main" cx="78105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1647825"/>
                <a:gridCol w="2381250"/>
                <a:gridCol w="2581275"/>
                <a:gridCol w="666750"/>
              </a:tblGrid>
              <a:tr h="3238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Case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Name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Steps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/ Expected Result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Interest sliders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Move each of 7 sliders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Values change from 0.0 to 1.0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Destination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Submit empty text or spaces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 “Please enter a destination”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Travel dates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Leave either date empty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 missing-date warning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Invalid numbers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 negative values or walking &gt;240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Block values outside allowed range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Daily time order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Use 6 PM–10 AM or equal times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Show time-order warning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interests zero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 all 7 interests to 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Ask for at least one interest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Blank daily times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Clear start or end time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Missing or misleading warning instead of a clear missing-time message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9F2D1F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BE4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153642"/>
      </p:ext>
    </p:extLst>
  </p:cSld>
</p:sld>
</file>

<file path=ppt/slides/slide2_inserted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Stories | Not Completed / Blocked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Pending work and dependencies to carry into the next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500000"/>
          <a:ext cx="10945367" cy="441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5212080"/>
                <a:gridCol w="3813047"/>
              </a:tblGrid>
              <a:tr h="27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Workstream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Pending story / deliverable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Status / dependency</a:t>
                      </a:r>
                    </a:p>
                  </a:txBody>
                  <a:tcPr anchor="ctr" marL="109728" marR="91440" marT="18288" marB="18288">
                    <a:solidFill>
                      <a:srgbClr val="143F4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DS-9 — Real opening hours for top sights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Planned for Sprint 2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DS-10 — Real entry prices for top sights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Planned for Sprint 2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Full-stack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DS-11 — Display place names in the itinerary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Needs backend + frontend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Integration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Verify frontend connection to FastAPI with real responses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Pending verification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Frontend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Collapsible itinerary day sections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Not implemented / not confirmed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Optimizer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Resolve CI failure in optimizer PR and verify real scheduling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B42318"/>
                          </a:solidFill>
                          <a:latin typeface="Aptos"/>
                        </a:rPr>
                        <a:t>Blocked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Model &amp; Ranking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Retrain ranker on real attraction data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Waiting for ingest PR merge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Model &amp; Ranking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Integrate ML ranking scores into the scheduler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Transportation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Integrate real-time travel-time and transportation APIs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Routing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Implement advanced route optimization algorithms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LLM / Preferences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Free-text preference extraction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Not completed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LLM / Preferences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Complete planned LLM technical spike and evaluation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Not completed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Testing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End-to-end testing with all actual components connected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Waiting for runnable integrated version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Multi-city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Test cities beyond Lisbon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Blocked by data-ingestion PR merge</a:t>
                      </a:r>
                    </a:p>
                  </a:txBody>
                  <a:tcPr anchor="ctr" marL="109728" marR="91440" marT="18288" marB="18288">
                    <a:solidFill>
                      <a:srgbClr val="FFFFFF"/>
                    </a:solidFill>
                  </a:tcPr>
                </a:tc>
              </a:tr>
              <a:tr h="276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Data PRs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PR #8 and PR #16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F36"/>
                          </a:solidFill>
                          <a:latin typeface="Aptos"/>
                        </a:rPr>
                        <a:t>Awaiting review / merge</a:t>
                      </a:r>
                    </a:p>
                  </a:txBody>
                  <a:tcPr anchor="ctr" marL="109728" marR="91440" marT="18288" marB="18288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6090000"/>
            <a:ext cx="1092708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975611"/>
                </a:solidFill>
                <a:latin typeface="Aptos"/>
              </a:rPr>
              <a:t>Note: implementation and end-to-end verification are tracked separately.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"/>
            <a:ext cx="1127455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800" b="1">
                <a:solidFill>
                  <a:srgbClr val="1F3A5F"/>
                </a:solidFill>
                <a:latin typeface="Arial"/>
              </a:defRPr>
            </a:pPr>
            <a:r>
              <a:t>TEAM MEMBERS — ROLES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74552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0">
                <a:solidFill>
                  <a:srgbClr val="5C6F82"/>
                </a:solidFill>
                <a:latin typeface="Arial"/>
              </a:defRPr>
            </a:pPr>
            <a:r>
              <a:t>WanderWise  |  CS-691  |  Team 4  |  Sprint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618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17319" y="1417319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2871215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t>Syed Ali Ghazi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227832"/>
            <a:ext cx="3282696" cy="2834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t>Team Lead • Product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520440"/>
            <a:ext cx="3282696" cy="2651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C6F82"/>
                </a:solidFill>
                <a:latin typeface="Arial"/>
              </a:defRPr>
            </a:pPr>
            <a:r>
              <a:t>Backend / LLM /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7" y="12618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21807" y="1417319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2871215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t>Sidhartha Boddupally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3227832"/>
            <a:ext cx="3282696" cy="2834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rPr dirty="0"/>
              <a:t>Model &amp; 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3520440"/>
            <a:ext cx="3282696" cy="2651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C6F82"/>
                </a:solidFill>
                <a:latin typeface="Arial"/>
              </a:defRPr>
            </a:pPr>
            <a:r>
              <a:t>Developer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2618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26295" y="1417319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19" y="2871215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t>Ramu Kommu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227832"/>
            <a:ext cx="3282696" cy="2834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t>Optimizer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520440"/>
            <a:ext cx="3282696" cy="26517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C6F82"/>
                </a:solidFill>
                <a:latin typeface="Arial"/>
              </a:defRPr>
            </a:pPr>
            <a:r>
              <a:t>Scoring &amp; Scheduling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050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17319" y="4160520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" y="5614416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rPr/>
              <a:t>Bala Ravi Raja Polisetty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971031"/>
            <a:ext cx="3282696" cy="28346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rPr/>
              <a:t>Integration &amp; Testing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7" y="40050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21807" y="4160520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9431" y="5614416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rPr/>
              <a:t>Sushma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1" y="5934456"/>
            <a:ext cx="3282696" cy="28346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rPr/>
              <a:t>Data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9431" y="6181344"/>
            <a:ext cx="3282696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defRPr sz="1200" b="0">
                <a:solidFill>
                  <a:srgbClr val="5C6F82"/>
                </a:solidFill>
                <a:latin typeface="Arial"/>
              </a:defRPr>
            </a:pPr>
            <a:r>
              <a:rPr sz="1300"/>
              <a:t>Confidence &amp; Cleaning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57615" y="4005072"/>
            <a:ext cx="3575304" cy="2560320"/>
          </a:xfrm>
          <a:prstGeom prst="roundRect">
            <a:avLst/>
          </a:prstGeom>
          <a:solidFill>
            <a:srgbClr val="F3F5F7"/>
          </a:solidFill>
          <a:ln>
            <a:solidFill>
              <a:srgbClr val="E0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26295" y="4160520"/>
            <a:ext cx="1828800" cy="1344168"/>
          </a:xfrm>
          <a:prstGeom prst="rect">
            <a:avLst/>
          </a:prstGeom>
          <a:solidFill>
            <a:srgbClr val="E5EBF1"/>
          </a:solidFill>
          <a:ln w="19050">
            <a:solidFill>
              <a:srgbClr val="90A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19" y="5614416"/>
            <a:ext cx="3282696" cy="35661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700" b="1">
                <a:solidFill>
                  <a:srgbClr val="1F3A5F"/>
                </a:solidFill>
                <a:latin typeface="Arial"/>
              </a:defRPr>
            </a:pPr>
            <a:r>
              <a:rPr/>
              <a:t>K. Srija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19" y="5934456"/>
            <a:ext cx="3282696" cy="283464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defRPr sz="1300" b="1">
                <a:solidFill>
                  <a:srgbClr val="1F3A5F"/>
                </a:solidFill>
                <a:latin typeface="Arial"/>
              </a:defRPr>
            </a:pPr>
            <a:r>
              <a:rPr/>
              <a:t>Scrum Master • Developer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6181344"/>
            <a:ext cx="3282696" cy="219456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 algn="ctr">
              <a:defRPr sz="1200" b="0">
                <a:solidFill>
                  <a:srgbClr val="5C6F82"/>
                </a:solidFill>
                <a:latin typeface="Arial"/>
              </a:defRPr>
            </a:pPr>
            <a:r>
              <a:rPr sz="1300"/>
              <a:t>Frontend &amp; Sprint Coordination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A36D9EF-1104-47BB-41E4-046890692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1417319"/>
            <a:ext cx="1828800" cy="134416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A1B9D87-2566-B2E7-95E4-6190E60C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7" y="1417319"/>
            <a:ext cx="1828800" cy="1344168"/>
          </a:xfrm>
          <a:prstGeom prst="rect">
            <a:avLst/>
          </a:prstGeom>
        </p:spPr>
      </p:pic>
      <p:sp>
        <p:nvSpPr>
          <p:cNvPr id="42" name="AutoShape 2">
            <a:extLst>
              <a:ext uri="{FF2B5EF4-FFF2-40B4-BE49-F238E27FC236}">
                <a16:creationId xmlns:a16="http://schemas.microsoft.com/office/drawing/2014/main" id="{6C912B69-A5B3-11C0-D5CC-617B799D73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96B4A96-9623-086F-F800-8A66A21EE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4" y="1353312"/>
            <a:ext cx="1828801" cy="148132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CFE811F-E418-3FA4-DBD5-B2680EA78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19" y="4160520"/>
            <a:ext cx="1828800" cy="134416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851AD5E-F9F6-58F2-0880-0FE21E6FE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7" y="4120896"/>
            <a:ext cx="1828800" cy="138379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CC22310-F298-AFCB-3D45-99198CB0D4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294" y="4160520"/>
            <a:ext cx="1828801" cy="1344168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3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FFF08-9BE3-42E8-AC66-CD1CA6A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 - Backend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4711-7AF6-4DAE-8DBE-6F46567D512E}"/>
              </a:ext>
            </a:extLst>
          </p:cNvPr>
          <p:cNvGraphicFramePr/>
          <p:nvPr/>
        </p:nvGraphicFramePr>
        <p:xfrm>
          <a:off xmlns:a="http://schemas.openxmlformats.org/drawingml/2006/main" x="2190750" y="1343025"/>
          <a:ext xmlns:a="http://schemas.openxmlformats.org/drawingml/2006/main" cx="7810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1647825"/>
                <a:gridCol w="2381250"/>
                <a:gridCol w="2581275"/>
                <a:gridCol w="666750"/>
              </a:tblGrid>
              <a:tr h="3238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Case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Name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Steps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/ Expected Result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Saved-trip retrieval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Create a trip, then GET its ID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 the saved itinerary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Reject a place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Send feedback rejecting a place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 a revised plan without it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Remember rejections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Reject a second place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both rejected places out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Missing trip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GET or send feedback for missing ID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 HTTP 404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Invalid feedback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Send a number instead of a list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 HTTP 422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Separate trips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Create a new trip, GET the old one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Keep old trip and its feedback unchanged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475100"/>
      </p:ext>
    </p:extLst>
  </p:cSld>
</p:sld>
</file>

<file path=ppt/slides/slide3_inserted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  <a:latin typeface="Aptos Display"/>
              </a:defRPr>
            </a:pPr>
            <a:r>
              <a:t>SPRINT 1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25C"/>
                </a:solidFill>
                <a:latin typeface="Aptos"/>
              </a:defRPr>
            </a:pPr>
            <a:r>
              <a:t>WanderWise — What went well, what can be improved, and action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3312"/>
            <a:ext cx="3401568" cy="5074920"/>
          </a:xfrm>
          <a:prstGeom prst="roundRect">
            <a:avLst/>
          </a:prstGeom>
          <a:solidFill>
            <a:srgbClr val="DAF6DC"/>
          </a:solidFill>
          <a:ln>
            <a:solidFill>
              <a:srgbClr val="DC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spcAft>
                <a:spcPts val="12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WHAT WENT WELL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Core platform foundation established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Lisbon dataset and data-quality checks completed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Frontend dashboard can display a sample itinerary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FastAPI planning and saved-trip/feedback APIs implemented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Learning-to-rank model trained and evaluated against baselines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PR #11 merged; CI passing for core platform work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191 existing tests passed in the reported test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6512" y="1353312"/>
            <a:ext cx="3401568" cy="5074920"/>
          </a:xfrm>
          <a:prstGeom prst="roundRect">
            <a:avLst/>
          </a:prstGeom>
          <a:solidFill>
            <a:srgbClr val="EAD2FA"/>
          </a:solidFill>
          <a:ln>
            <a:solidFill>
              <a:srgbClr val="DC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spcAft>
                <a:spcPts val="12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WHAT CAN BE IMPROVED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PR reviews and merges need to happen sooner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Optimizer CI failures delayed full scheduling verification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Frontend-to-backend integration needs end-to-end confirmation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Current tested data coverage is limited to Lisbon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Some tests are component-level rather than full-flow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Ranking model currently relies on synthetic training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90104" y="1353312"/>
            <a:ext cx="3401568" cy="5074920"/>
          </a:xfrm>
          <a:prstGeom prst="roundRect">
            <a:avLst/>
          </a:prstGeom>
          <a:solidFill>
            <a:srgbClr val="FFDAB7"/>
          </a:solidFill>
          <a:ln>
            <a:solidFill>
              <a:srgbClr val="DC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bIns="109728"/>
          <a:lstStyle/>
          <a:p>
            <a:pPr algn="ctr">
              <a:spcAft>
                <a:spcPts val="12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ACTION ITEMS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Fix optimizer CI failures and validate scheduling constraints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Review and merge data-ingestion PRs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Retrain ranking model with real attraction data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Run full user flow from request to itinerary display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Verify real backend responses and collapsible day sections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Plan free-text preference extraction and LLM spike</a:t>
            </a:r>
          </a:p>
          <a:p>
            <a:pPr>
              <a:spcAft>
                <a:spcPts val="900"/>
              </a:spcAft>
              <a:defRPr sz="1200">
                <a:solidFill>
                  <a:srgbClr val="232323"/>
                </a:solidFill>
                <a:latin typeface="Aptos"/>
              </a:defRPr>
            </a:pPr>
            <a:r>
              <a:t>• Expand test coverage beyond Lisbon when data is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Improvements from Professor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Changed slides are marked UPDATED; references below match this revised deck.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104888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Feedback theme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Presentation response / reference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Clear speaking roles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Roles and photos: slide 3. Assign speakers during rehearsal.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One aligned plan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MVP: 10; backlogs and stories: 19–23; Sprint 2 plan: 31–32.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Visible teamwork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Original team-photo layout: 3. Confirm cameras and participation in recording.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Evidence over agreement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Task evidence: 23; tests: 24; metrics: 27–29. Record decisions, owners, dates, and blockers.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Demonstrate working progress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Show reported outcomes and gaps: 25–26; screenshots: 33–34; live demo: 37.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46A78-730B-4C8C-8814-0A77250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 - Backend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0A4BE-B644-431E-8BF4-2F14989FF095}"/>
              </a:ext>
            </a:extLst>
          </p:cNvPr>
          <p:cNvGraphicFramePr/>
          <p:nvPr/>
        </p:nvGraphicFramePr>
        <p:xfrm>
          <a:off xmlns:a="http://schemas.openxmlformats.org/drawingml/2006/main" x="2190750" y="1343025"/>
          <a:ext xmlns:a="http://schemas.openxmlformats.org/drawingml/2006/main" cx="78105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1647825"/>
                <a:gridCol w="2381250"/>
                <a:gridCol w="2581275"/>
                <a:gridCol w="666750"/>
              </a:tblGrid>
              <a:tr h="3238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Case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Name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Steps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/ Expected Result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Existing Python tests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pytest -q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collected tests 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Data loading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Load Lisbon places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6,073 Lisbon records loaded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Unique record IDs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Count all IDs and unique IDs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repeated record IDs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Basic fields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Check names, categories, coordinates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missing fields in these checks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City alias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Compare Lisbon and Lisboa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Return identical records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Unsupported city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Load New York directly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Raise CityNotAvailable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Data: Travel estimates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Compare walking allowance 20 vs 240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Sample pairs change transit to walk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139388"/>
      </p:ext>
    </p:extLst>
  </p:cSld>
</p:sld>
</file>

<file path=ppt/slides/slide4_inserted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323"/>
                </a:solidFill>
                <a:latin typeface="Aptos Display"/>
              </a:defRPr>
            </a:pPr>
            <a:r>
              <a:t>SPRINT 1 RETROSPECTIVE: IMPORTANT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625C"/>
                </a:solidFill>
                <a:latin typeface="Aptos"/>
              </a:defRPr>
            </a:pPr>
            <a:r>
              <a:t>Key takeaways for the sprint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3310128" cy="4297680"/>
          </a:xfrm>
          <a:prstGeom prst="roundRect">
            <a:avLst/>
          </a:prstGeom>
          <a:solidFill>
            <a:srgbClr val="DAF6DC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219456"/>
          <a:lstStyle/>
          <a:p>
            <a:pPr algn="ctr">
              <a:spcAft>
                <a:spcPts val="16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WHAT WENT WELL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Strong progress across data, frontend, API, and ranking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Core platform and frontend foundation are in place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Data and API testing identified key integration needs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572768"/>
            <a:ext cx="3310128" cy="4297680"/>
          </a:xfrm>
          <a:prstGeom prst="roundRect">
            <a:avLst/>
          </a:prstGeom>
          <a:solidFill>
            <a:srgbClr val="DAEAFA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219456"/>
          <a:lstStyle/>
          <a:p>
            <a:pPr algn="ctr">
              <a:spcAft>
                <a:spcPts val="16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IMPROVEMENTS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Complete PR reviews and CI fixes earlier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Test integrated workflows, not only individual components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Improve coordination around shared dependencies and merges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112" y="1572768"/>
            <a:ext cx="3310128" cy="4297680"/>
          </a:xfrm>
          <a:prstGeom prst="roundRect">
            <a:avLst/>
          </a:prstGeom>
          <a:solidFill>
            <a:srgbClr val="FFDAB7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64592" tIns="219456"/>
          <a:lstStyle/>
          <a:p>
            <a:pPr algn="ctr">
              <a:spcAft>
                <a:spcPts val="1600"/>
              </a:spcAft>
              <a:defRPr sz="1500" b="1">
                <a:solidFill>
                  <a:srgbClr val="232323"/>
                </a:solidFill>
                <a:latin typeface="Aptos"/>
              </a:defRPr>
            </a:pPr>
            <a:r>
              <a:t>ACTION ITEMS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Agree on integration contracts and ownership before implementation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Prioritize optimizer and data-ingestion blockers</a:t>
            </a:r>
          </a:p>
          <a:p>
            <a:pPr>
              <a:spcAft>
                <a:spcPts val="15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t>• Start real-data ranking and LLM planning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447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625C"/>
                </a:solidFill>
                <a:latin typeface="Aptos"/>
              </a:defRPr>
            </a:pPr>
            <a:r>
              <a:t>Sprint focus: integrate the components, unblock dependencies, and validate the complete itinerary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10972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3F46"/>
                </a:solidFill>
                <a:latin typeface="Aptos"/>
              </a:rPr>
              <a:t>Wanderwise | 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800" b="0">
                <a:solidFill>
                  <a:srgbClr val="52636B"/>
                </a:solidFill>
                <a:latin typeface="Aptos"/>
              </a:rPr>
              <a:t>Personalized, day-by-day travel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364224"/>
            <a:ext cx="10945368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600200"/>
          <a:ext cx="1094536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842248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Project Name</a:t>
                      </a:r>
                    </a:p>
                  </a:txBody>
                  <a:tcPr marL="137160" marR="118872" marT="68580" marB="32004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Wanderwise</a:t>
                      </a:r>
                    </a:p>
                  </a:txBody>
                  <a:tcPr marL="137160" marR="118872" marT="68580" marB="32004">
                    <a:solidFill>
                      <a:srgbClr val="F0F6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Team</a:t>
                      </a:r>
                    </a:p>
                  </a:txBody>
                  <a:tcPr marL="137160" marR="118872" marT="68580" marB="32004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F2026-Team4</a:t>
                      </a:r>
                    </a:p>
                  </a:txBody>
                  <a:tcPr marL="137160" marR="118872" marT="68580" marB="32004">
                    <a:solidFill>
                      <a:srgbClr val="FFFFFF"/>
                    </a:solidFill>
                  </a:tcPr>
                </a:tc>
              </a:tr>
              <a:tr h="246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Project Description</a:t>
                      </a:r>
                    </a:p>
                  </a:txBody>
                  <a:tcPr marL="137160" marR="118872" marT="68580" marB="32004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For travelers planning their own trips,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who spend hours comparing scattered travel information,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the Wanderwise web application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is a personalized itinerary planner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that builds daily plans around preferences, time, and budget.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Unlike generic guides and fixed tours,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40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our application personalizes stops and flags unverified details.</a:t>
                      </a:r>
                    </a:p>
                  </a:txBody>
                  <a:tcPr marL="137160" marR="118872" marT="68580" marB="32004">
                    <a:solidFill>
                      <a:srgbClr val="F0F6F6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Benefit Outcomes</a:t>
                      </a:r>
                    </a:p>
                  </a:txBody>
                  <a:tcPr marL="137160" marR="118872" marT="68580" marB="32004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Expected: less planning time; visible stop and trip costs;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recommendation reasons and confidence scores; clear uncertainty warnings.</a:t>
                      </a:r>
                    </a:p>
                  </a:txBody>
                  <a:tcPr marL="137160" marR="118872" marT="68580" marB="3200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GitHub Wiki</a:t>
                      </a:r>
                    </a:p>
                  </a:txBody>
                  <a:tcPr marL="137160" marR="118872" marT="68580" marB="32004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  <a:hlinkClick r:id="rId2"/>
                        </a:rPr>
                        <a:t>https://github.com/htmw/F2026-Team4/wiki</a:t>
                      </a:r>
                    </a:p>
                  </a:txBody>
                  <a:tcPr marL="137160" marR="118872" marT="68580" marB="32004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5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4AD5-21CF-4569-B793-C37E7D53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 - Backend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74508-A98F-459A-8A9C-D61633F978E9}"/>
              </a:ext>
            </a:extLst>
          </p:cNvPr>
          <p:cNvGraphicFramePr/>
          <p:nvPr/>
        </p:nvGraphicFramePr>
        <p:xfrm>
          <a:off xmlns:a="http://schemas.openxmlformats.org/drawingml/2006/main" x="2190750" y="1343025"/>
          <a:ext xmlns:a="http://schemas.openxmlformats.org/drawingml/2006/main" cx="7810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1647825"/>
                <a:gridCol w="2381250"/>
                <a:gridCol w="2581275"/>
                <a:gridCol w="666750"/>
              </a:tblGrid>
              <a:tr h="3238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Case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Name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Steps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/ Expected Result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Ranking: Existing ranking tests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pytest ranker/tests -q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3 existing tests 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Ranking: Synthetic evaluation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ranker.evaluate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Synthetic NDCG@5: model 0.958, rules 0.932, popularity/random 0.532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Ranking: Food preference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Food 1.0, all other interests 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Food venues rank near the top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Ranking: Nature preference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Nature 1.0, all other interests 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Ranking changes toward nature categories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011736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Working Agreement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92938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50876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031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 day-to-day updates, questions, and coordination.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28232" y="192938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1323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Meetings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1031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for sprint planning, progress, and problem-solving.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339242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50876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In-Person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Face-to-face when we need hands-on group 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28232" y="339242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132320" y="3218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→ PR → review → merge; everyone contributes.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" y="485546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50876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0292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tasks; commit work ≈ 48h early, not an hour before.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48056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EFF4F3"/>
          </a:solidFill>
          <a:ln/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28232" y="4855464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132320" y="4681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0292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each other on integration and testing; we remind, no offense taken.</a:t>
            </a:r>
            <a:endParaRPr lang="en-US" sz="1200" dirty="0"/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6_inserted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531FA-132E-4F9A-9072-1E2FD1F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defPPr>
            <a:lvl1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1pPr>
            <a:lvl2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2pPr>
            <a:lvl3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3pPr>
            <a:lvl4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4pPr>
            <a:lvl5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5pPr>
            <a:lvl6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6pPr>
            <a:lvl7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7pPr>
            <a:lvl8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8pPr>
            <a:lvl9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>
              <a:defRPr sz="4350">
                <a:solidFill>
                  <a:srgbClr val="000000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Test Cases - Backend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0269F-9A92-4712-AA33-F1F474575032}"/>
              </a:ext>
            </a:extLst>
          </p:cNvPr>
          <p:cNvGraphicFramePr/>
          <p:nvPr/>
        </p:nvGraphicFramePr>
        <p:xfrm>
          <a:off xmlns:a="http://schemas.openxmlformats.org/drawingml/2006/main" x="2190750" y="1343025"/>
          <a:ext xmlns:a="http://schemas.openxmlformats.org/drawingml/2006/main" cx="78105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1647825"/>
                <a:gridCol w="2381250"/>
                <a:gridCol w="2581275"/>
                <a:gridCol w="666750"/>
              </a:tblGrid>
              <a:tr h="32385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Case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Name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Steps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Description / Expected Result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T w="4763">
                      <a:solidFill>
                        <a:srgbClr val="AEC2CC"/>
                      </a:solidFill>
                      <a:prstDash val="solid"/>
                    </a:lnT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164C6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Existing tests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general tests and scheduler file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 general and 8 additional tests 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Budget limit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 budget to 10 EUR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Stored attraction costs total &lt;=10 EUR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Daily time window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 daily hours to 12 PM–2 PM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visits fit within the window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Avoid and duplicates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Avoid castle, inspect returned IDs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Castle absent; no repeated IDs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Zero walking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Set walking allowance to 0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positive walking travel legs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Known opening hours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Check fit, too-long visit, closed day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Wait until open; reject infeasible visits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ED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7633F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DFF2E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AEC2CC"/>
                      </a:solidFill>
                      <a:prstDash val="solid"/>
                    </a:lnL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Optimizer: Inferred-hours penalty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Change only hours confidence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Known and inferred hours both scored 0.3697. Required penalty missing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9F2D1F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AEC2CC"/>
                      </a:solidFill>
                      <a:prstDash val="solid"/>
                    </a:lnR>
                    <a:lnB w="4763">
                      <a:solidFill>
                        <a:srgbClr val="AEC2CC"/>
                      </a:solidFill>
                      <a:prstDash val="solid"/>
                    </a:lnB>
                    <a:solidFill>
                      <a:srgbClr val="FBE4D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02089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579BC70E-5D76-43BB-852A-DCC637935527}"/>
              </a:ext>
            </a:extLst>
          </p:cNvPr>
          <p:cNvSpPr>
            <a:spLocks noGrp="1"/>
          </p:cNvSpPr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300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PERSONA 1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F0BE3A-A0D0-4090-9AC4-5D5A67D11647}"/>
              </a:ext>
            </a:extLst>
          </p:cNvPr>
          <p:cNvSpPr>
            <a:spLocks noGrp="1"/>
          </p:cNvSpPr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Budget-Conscious Student Traveler</a:t>
            </a:r>
            <a:endParaRPr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097C3CD-AFC2-4CDC-926C-8CD1FA3F77CF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96BB44-38EA-4D98-ACF3-668899CE1B3D}"/>
              </a:ext>
            </a:extLst>
          </p:cNvPr>
          <p:cNvSpPr>
            <a:spLocks noGrp="1"/>
          </p:cNvSpPr>
          <p:nvPr/>
        </p:nvSpPr>
        <p:spPr>
          <a:xfrm>
            <a:off x="571500" y="3607308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Arjun Mehta</a:t>
            </a:r>
            <a:endParaRPr sz="1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452001-CCAC-4328-8B0D-5CC18A1C1B4D}"/>
              </a:ext>
            </a:extLst>
          </p:cNvPr>
          <p:cNvSpPr>
            <a:spLocks noGrp="1"/>
          </p:cNvSpPr>
          <p:nvPr/>
        </p:nvSpPr>
        <p:spPr>
          <a:xfrm>
            <a:off x="571500" y="37673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i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Budget-Conscious Student Traveler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13293B-FFA7-4F28-A541-8ED1AD2581E7}"/>
              </a:ext>
            </a:extLst>
          </p:cNvPr>
          <p:cNvSpPr>
            <a:spLocks noGrp="1"/>
          </p:cNvSpPr>
          <p:nvPr/>
        </p:nvSpPr>
        <p:spPr>
          <a:xfrm>
            <a:off x="731520" y="4206240"/>
            <a:ext cx="297180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Age:  </a:t>
            </a:r>
            <a:r>
              <a:rPr sz="1150">
                <a:solidFill>
                  <a:srgbClr val="2F454A"/>
                </a:solidFill>
              </a:rPr>
              <a:t>24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Education:  </a:t>
            </a:r>
            <a:r>
              <a:rPr sz="1150">
                <a:solidFill>
                  <a:srgbClr val="2F454A"/>
                </a:solidFill>
              </a:rPr>
              <a:t>MSc Computer Science (in progress)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Hometown:  </a:t>
            </a:r>
            <a:r>
              <a:rPr sz="1150">
                <a:solidFill>
                  <a:srgbClr val="2F454A"/>
                </a:solidFill>
              </a:rPr>
              <a:t>Pune, India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Family:  </a:t>
            </a:r>
            <a:r>
              <a:rPr sz="1150">
                <a:solidFill>
                  <a:srgbClr val="2F454A"/>
                </a:solidFill>
              </a:rPr>
              <a:t>Single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Occupation:  </a:t>
            </a:r>
            <a:r>
              <a:rPr sz="1150">
                <a:solidFill>
                  <a:srgbClr val="2F454A"/>
                </a:solidFill>
              </a:rPr>
              <a:t>Grad student &amp; part-time TA</a:t>
            </a: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F122CE-A314-4B14-AC14-9A1D6F2F7318}"/>
              </a:ext>
            </a:extLst>
          </p:cNvPr>
          <p:cNvSpPr>
            <a:spLocks noGrp="1"/>
          </p:cNvSpPr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“I want to explore the city without exceeding my budget or wasting time between places.”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3CD6C63-C1B3-4D93-A7C3-673853498FB0}"/>
              </a:ext>
            </a:extLst>
          </p:cNvPr>
          <p:cNvSpPr>
            <a:spLocks noGrp="1"/>
          </p:cNvSpPr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8C1945-1AD3-47D9-AA88-96B16983912E}"/>
              </a:ext>
            </a:extLst>
          </p:cNvPr>
          <p:cNvSpPr>
            <a:spLocks noGrp="1"/>
          </p:cNvSpPr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GOALS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A26594-0D61-40C6-B269-529B74B7631B}"/>
              </a:ext>
            </a:extLst>
          </p:cNvPr>
          <p:cNvSpPr>
            <a:spLocks noGrp="1"/>
          </p:cNvSpPr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Stay within a fixed trip budget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Still see the important attractions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Cut travel time between stops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7F87A91-5D55-47CB-9EC5-FCF60BC0242D}"/>
              </a:ext>
            </a:extLst>
          </p:cNvPr>
          <p:cNvSpPr>
            <a:spLocks noGrp="1"/>
          </p:cNvSpPr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D7BD9C-456A-425A-8A93-077EA265ACE7}"/>
              </a:ext>
            </a:extLst>
          </p:cNvPr>
          <p:cNvSpPr>
            <a:spLocks noGrp="1"/>
          </p:cNvSpPr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C2603A"/>
                </a:solidFill>
                <a:latin typeface="Calibri"/>
                <a:ea typeface="Calibri"/>
                <a:cs typeface="Calibri"/>
              </a:rPr>
              <a:t>FRUSTRATIONS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2D7844F-2458-43DB-A8A4-B03A0EC72F68}"/>
              </a:ext>
            </a:extLst>
          </p:cNvPr>
          <p:cNvSpPr>
            <a:spLocks noGrp="1"/>
          </p:cNvSpPr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Generic plans suggest costly activities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Recommended places are far apart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Prices and hours are often outdated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6D1668B-4678-49F0-B429-D3CD1BAA061B}"/>
              </a:ext>
            </a:extLst>
          </p:cNvPr>
          <p:cNvSpPr>
            <a:spLocks noGrp="1"/>
          </p:cNvSpPr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C76019-5652-4949-8E08-B91AE5BB4275}"/>
              </a:ext>
            </a:extLst>
          </p:cNvPr>
          <p:cNvSpPr>
            <a:spLocks noGrp="1"/>
          </p:cNvSpPr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What our app must provide:   </a:t>
            </a:r>
            <a:r>
              <a:rPr sz="120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Budget-aware ranking  ·  Verified hours &amp; costs  ·  Walking limit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12DA8BE-93EA-4B69-9FB3-7B7C9D61861A}"/>
              </a:ext>
            </a:extLst>
          </p:cNvPr>
          <p:cNvSpPr>
            <a:spLocks noGrp="1"/>
          </p:cNvSpPr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B85F5D6-C32A-4E0F-BB58-22F62ECD114A}"/>
              </a:ext>
            </a:extLst>
          </p:cNvPr>
          <p:cNvSpPr>
            <a:spLocks noGrp="1"/>
          </p:cNvSpPr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Arjun travels between semesters on a tight budget. He researches for hours across blogs and maps but still ends up backtracking and overspending. He wants a plan that respects his budget and keeps each day efficient, so he sees more with less stress.</a:t>
            </a:r>
            <a:endParaRPr sz="11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C4A713-32CF-402B-BA69-9053B443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1421078" y="1422957"/>
            <a:ext cx="1455524" cy="218328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D2664EB0-9ED3-45F3-B847-E46B467C402B}"/>
              </a:ext>
            </a:extLst>
          </p:cNvPr>
          <p:cNvSpPr>
            <a:spLocks noGrp="1"/>
          </p:cNvSpPr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300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PERSONA 2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2C8B9D-DD37-45AA-BC52-F3651726AA85}"/>
              </a:ext>
            </a:extLst>
          </p:cNvPr>
          <p:cNvSpPr>
            <a:spLocks noGrp="1"/>
          </p:cNvSpPr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Parent Planning a Family Vacation</a:t>
            </a:r>
            <a:endParaRPr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E3984F-39EC-4567-B2B4-D8EA2FA8C320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7B9D46-F2A9-4C00-8C80-D33659024F46}"/>
              </a:ext>
            </a:extLst>
          </p:cNvPr>
          <p:cNvSpPr>
            <a:spLocks noGrp="1"/>
          </p:cNvSpPr>
          <p:nvPr/>
        </p:nvSpPr>
        <p:spPr>
          <a:xfrm>
            <a:off x="594360" y="3612021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Sarah Johnson</a:t>
            </a:r>
            <a:endParaRPr sz="1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F37F88-0513-4BA5-99B9-B5C41877221A}"/>
              </a:ext>
            </a:extLst>
          </p:cNvPr>
          <p:cNvSpPr>
            <a:spLocks noGrp="1"/>
          </p:cNvSpPr>
          <p:nvPr/>
        </p:nvSpPr>
        <p:spPr>
          <a:xfrm>
            <a:off x="640080" y="37719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i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Parent Planning a Family Vacation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0698C47-5AE9-4C6A-9DB0-0545CA907670}"/>
              </a:ext>
            </a:extLst>
          </p:cNvPr>
          <p:cNvSpPr>
            <a:spLocks noGrp="1"/>
          </p:cNvSpPr>
          <p:nvPr/>
        </p:nvSpPr>
        <p:spPr>
          <a:xfrm>
            <a:off x="754380" y="4244006"/>
            <a:ext cx="297180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Age:  </a:t>
            </a:r>
            <a:r>
              <a:rPr sz="1150">
                <a:solidFill>
                  <a:srgbClr val="2F454A"/>
                </a:solidFill>
              </a:rPr>
              <a:t>38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Education:  </a:t>
            </a:r>
            <a:r>
              <a:rPr sz="1150">
                <a:solidFill>
                  <a:srgbClr val="2F454A"/>
                </a:solidFill>
              </a:rPr>
              <a:t>BBA, Marketing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Hometown:  </a:t>
            </a:r>
            <a:r>
              <a:rPr sz="1150">
                <a:solidFill>
                  <a:srgbClr val="2F454A"/>
                </a:solidFill>
              </a:rPr>
              <a:t>Chicago, USA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Family:  </a:t>
            </a:r>
            <a:r>
              <a:rPr sz="1150">
                <a:solidFill>
                  <a:srgbClr val="2F454A"/>
                </a:solidFill>
              </a:rPr>
              <a:t>Married, two kids (7 &amp; 10)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Occupation:  </a:t>
            </a:r>
            <a:r>
              <a:rPr sz="1150">
                <a:solidFill>
                  <a:srgbClr val="2F454A"/>
                </a:solidFill>
              </a:rPr>
              <a:t>Marketing manager</a:t>
            </a: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764A56F-32A4-46BF-A8DF-2EF19EE62826}"/>
              </a:ext>
            </a:extLst>
          </p:cNvPr>
          <p:cNvSpPr>
            <a:spLocks noGrp="1"/>
          </p:cNvSpPr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“I want my family to enjoy the trip without rushing, walking too much, or missing breaks.”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D5B77A4-A673-4023-A02B-DCA794234A60}"/>
              </a:ext>
            </a:extLst>
          </p:cNvPr>
          <p:cNvSpPr>
            <a:spLocks noGrp="1"/>
          </p:cNvSpPr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0CFF698-F9C7-4F7B-B7D0-46A3E28FC8CC}"/>
              </a:ext>
            </a:extLst>
          </p:cNvPr>
          <p:cNvSpPr>
            <a:spLocks noGrp="1"/>
          </p:cNvSpPr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GOALS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846D4D6-B5CE-45CF-AC62-53668AFA1FFD}"/>
              </a:ext>
            </a:extLst>
          </p:cNvPr>
          <p:cNvSpPr>
            <a:spLocks noGrp="1"/>
          </p:cNvSpPr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Find activities for kids and adults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Keep each day comfortable and flexible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Reduce travel between attractions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F5B4D09-C449-4064-8C81-E7CB5B75A3E5}"/>
              </a:ext>
            </a:extLst>
          </p:cNvPr>
          <p:cNvSpPr>
            <a:spLocks noGrp="1"/>
          </p:cNvSpPr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657195-FD36-4755-A601-BB928ACD0F50}"/>
              </a:ext>
            </a:extLst>
          </p:cNvPr>
          <p:cNvSpPr>
            <a:spLocks noGrp="1"/>
          </p:cNvSpPr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C2603A"/>
                </a:solidFill>
                <a:latin typeface="Calibri"/>
                <a:ea typeface="Calibri"/>
                <a:cs typeface="Calibri"/>
              </a:rPr>
              <a:t>FRUSTRATIONS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BC33F8-DDD5-4A83-9738-5F8B21265F19}"/>
              </a:ext>
            </a:extLst>
          </p:cNvPr>
          <p:cNvSpPr>
            <a:spLocks noGrp="1"/>
          </p:cNvSpPr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Generic plans pack in too many activities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Kids get tired on long walks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One delay derails the whole day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99EB811-86D8-430D-9EA5-DC2F0696C136}"/>
              </a:ext>
            </a:extLst>
          </p:cNvPr>
          <p:cNvSpPr>
            <a:spLocks noGrp="1"/>
          </p:cNvSpPr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EE70C47-B271-43CE-93C7-6C6BE3C340E9}"/>
              </a:ext>
            </a:extLst>
          </p:cNvPr>
          <p:cNvSpPr>
            <a:spLocks noGrp="1"/>
          </p:cNvSpPr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What our app must provide:   </a:t>
            </a:r>
            <a:r>
              <a:rPr sz="120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Family-friendly filters  ·  Meal &amp; rest breaks  ·  Easy re-planning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5901C7D-1D33-4FB9-B7E1-2504ADA739B9}"/>
              </a:ext>
            </a:extLst>
          </p:cNvPr>
          <p:cNvSpPr>
            <a:spLocks noGrp="1"/>
          </p:cNvSpPr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2382EC-C490-41C1-99BF-81C1A4A77EE3}"/>
              </a:ext>
            </a:extLst>
          </p:cNvPr>
          <p:cNvSpPr>
            <a:spLocks noGrp="1"/>
          </p:cNvSpPr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Sarah plans the family's one big trip each year, juggling two kids with different energy levels and a partner who hates rushing. She needs a realistic, flexible plan with built-in breaks that she can adjust on the fly when the day runs late.</a:t>
            </a:r>
            <a:endParaRPr sz="11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A7DDD4-EF4A-43A0-8C5B-75F9845E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1513332" y="1424178"/>
            <a:ext cx="1453896" cy="218084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>
            <a:extLst>
              <a:ext uri="{FF2B5EF4-FFF2-40B4-BE49-F238E27FC236}">
                <a16:creationId xmlns:a16="http://schemas.microsoft.com/office/drawing/2014/main" id="{E89729B9-79AD-4EDC-B040-45E868BAC7C8}"/>
              </a:ext>
            </a:extLst>
          </p:cNvPr>
          <p:cNvSpPr>
            <a:spLocks noGrp="1"/>
          </p:cNvSpPr>
          <p:nvPr/>
        </p:nvSpPr>
        <p:spPr>
          <a:xfrm>
            <a:off x="548640" y="402336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 spc="300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PERSONA 3</a:t>
            </a:r>
            <a:endParaRPr sz="1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5FF582-BEDD-46E6-9639-BC1F936331AE}"/>
              </a:ext>
            </a:extLst>
          </p:cNvPr>
          <p:cNvSpPr>
            <a:spLocks noGrp="1"/>
          </p:cNvSpPr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Traveler with Limited Mobility</a:t>
            </a:r>
            <a:endParaRPr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FF0404-F2B3-4DED-9669-85D6B61FBB9A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3383280" cy="4617720"/>
          </a:xfrm>
          <a:prstGeom prst="roundRect">
            <a:avLst>
              <a:gd name="adj" fmla="val 2432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EDDA8B-0714-4A4B-85B1-BE445AE26D76}"/>
              </a:ext>
            </a:extLst>
          </p:cNvPr>
          <p:cNvSpPr>
            <a:spLocks noGrp="1"/>
          </p:cNvSpPr>
          <p:nvPr/>
        </p:nvSpPr>
        <p:spPr>
          <a:xfrm>
            <a:off x="594360" y="360273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900" b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Michael Thompson</a:t>
            </a:r>
            <a:endParaRPr sz="1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77CC1C-B662-4D5D-BC97-E5C2E43328C1}"/>
              </a:ext>
            </a:extLst>
          </p:cNvPr>
          <p:cNvSpPr>
            <a:spLocks noGrp="1"/>
          </p:cNvSpPr>
          <p:nvPr/>
        </p:nvSpPr>
        <p:spPr>
          <a:xfrm>
            <a:off x="640080" y="37627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i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Traveler with Limited Mobility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FFAF154-9993-4F48-A669-DD5405B725DF}"/>
              </a:ext>
            </a:extLst>
          </p:cNvPr>
          <p:cNvSpPr>
            <a:spLocks noGrp="1"/>
          </p:cNvSpPr>
          <p:nvPr/>
        </p:nvSpPr>
        <p:spPr>
          <a:xfrm>
            <a:off x="754380" y="4133088"/>
            <a:ext cx="297180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Age:  </a:t>
            </a:r>
            <a:r>
              <a:rPr sz="1150">
                <a:solidFill>
                  <a:srgbClr val="2F454A"/>
                </a:solidFill>
              </a:rPr>
              <a:t>63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Education:  </a:t>
            </a:r>
            <a:r>
              <a:rPr sz="1150">
                <a:solidFill>
                  <a:srgbClr val="2F454A"/>
                </a:solidFill>
              </a:rPr>
              <a:t>B.Ed, History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Hometown:  </a:t>
            </a:r>
            <a:r>
              <a:rPr sz="1150">
                <a:solidFill>
                  <a:srgbClr val="2F454A"/>
                </a:solidFill>
              </a:rPr>
              <a:t>Manchester, UK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Family:  </a:t>
            </a:r>
            <a:r>
              <a:rPr sz="1150">
                <a:solidFill>
                  <a:srgbClr val="2F454A"/>
                </a:solidFill>
              </a:rPr>
              <a:t>Married</a:t>
            </a:r>
            <a:endParaRPr sz="1150"/>
          </a:p>
          <a:p>
            <a:pPr marL="0" indent="0">
              <a:buNone/>
            </a:pPr>
            <a:r>
              <a:rPr sz="1150" b="1">
                <a:solidFill>
                  <a:srgbClr val="0E3A3F"/>
                </a:solidFill>
              </a:rPr>
              <a:t>Occupation:  </a:t>
            </a:r>
            <a:r>
              <a:rPr sz="1150">
                <a:solidFill>
                  <a:srgbClr val="2F454A"/>
                </a:solidFill>
              </a:rPr>
              <a:t>Retired secondary-school teacher</a:t>
            </a:r>
            <a:endParaRPr sz="11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A8591B-433E-4BCD-9A81-F0594B3106AF}"/>
              </a:ext>
            </a:extLst>
          </p:cNvPr>
          <p:cNvSpPr>
            <a:spLocks noGrp="1"/>
          </p:cNvSpPr>
          <p:nvPr/>
        </p:nvSpPr>
        <p:spPr>
          <a:xfrm>
            <a:off x="4160520" y="1417320"/>
            <a:ext cx="749808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>
                <a:solidFill>
                  <a:srgbClr val="0E3A3F"/>
                </a:solidFill>
                <a:latin typeface="Cambria"/>
                <a:ea typeface="Cambria"/>
                <a:cs typeface="Cambria"/>
              </a:rPr>
              <a:t>“I need to know my itinerary is physically manageable before I begin the trip.”</a:t>
            </a:r>
            <a:endParaRPr sz="16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8A6F5EC-DF4D-41EC-8E11-C9A8ABBC35C0}"/>
              </a:ext>
            </a:extLst>
          </p:cNvPr>
          <p:cNvSpPr>
            <a:spLocks noGrp="1"/>
          </p:cNvSpPr>
          <p:nvPr/>
        </p:nvSpPr>
        <p:spPr>
          <a:xfrm>
            <a:off x="416052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958A7B8-66A5-45FD-8299-DFA31EBD5FB9}"/>
              </a:ext>
            </a:extLst>
          </p:cNvPr>
          <p:cNvSpPr>
            <a:spLocks noGrp="1"/>
          </p:cNvSpPr>
          <p:nvPr/>
        </p:nvSpPr>
        <p:spPr>
          <a:xfrm>
            <a:off x="438912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GOALS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3E5090D-12F7-4D55-8DE3-150FAB069BB6}"/>
              </a:ext>
            </a:extLst>
          </p:cNvPr>
          <p:cNvSpPr>
            <a:spLocks noGrp="1"/>
          </p:cNvSpPr>
          <p:nvPr/>
        </p:nvSpPr>
        <p:spPr>
          <a:xfrm>
            <a:off x="443484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Visit historical &amp; cultural sites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Avoid long walks and rushed days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Get dependable accessibility details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B181ED-CD19-4B5F-A244-AAEA145FDC8F}"/>
              </a:ext>
            </a:extLst>
          </p:cNvPr>
          <p:cNvSpPr>
            <a:spLocks noGrp="1"/>
          </p:cNvSpPr>
          <p:nvPr/>
        </p:nvSpPr>
        <p:spPr>
          <a:xfrm>
            <a:off x="8001000" y="2331720"/>
            <a:ext cx="3657600" cy="1874520"/>
          </a:xfrm>
          <a:prstGeom prst="roundRect">
            <a:avLst>
              <a:gd name="adj" fmla="val 4390"/>
            </a:avLst>
          </a:prstGeom>
          <a:solidFill>
            <a:srgbClr val="EFF4F3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8AD65A3-26A6-4A82-9FB5-4CB8877FB412}"/>
              </a:ext>
            </a:extLst>
          </p:cNvPr>
          <p:cNvSpPr>
            <a:spLocks noGrp="1"/>
          </p:cNvSpPr>
          <p:nvPr/>
        </p:nvSpPr>
        <p:spPr>
          <a:xfrm>
            <a:off x="8229600" y="25146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C2603A"/>
                </a:solidFill>
                <a:latin typeface="Calibri"/>
                <a:ea typeface="Calibri"/>
                <a:cs typeface="Calibri"/>
              </a:rPr>
              <a:t>FRUSTRATIONS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DD9335-A183-47E6-B671-7ACD7D2B119C}"/>
              </a:ext>
            </a:extLst>
          </p:cNvPr>
          <p:cNvSpPr>
            <a:spLocks noGrp="1"/>
          </p:cNvSpPr>
          <p:nvPr/>
        </p:nvSpPr>
        <p:spPr>
          <a:xfrm>
            <a:off x="8275320" y="2852928"/>
            <a:ext cx="3200400" cy="12801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Generic plans assume long walking ability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Accessibility information is often missing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2F454A"/>
                </a:solidFill>
              </a:rPr>
              <a:t>Crowded schedules cause exhaustion</a:t>
            </a:r>
            <a:endParaRPr sz="12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4F0ECD9-FE25-414E-A95C-A67808ADD259}"/>
              </a:ext>
            </a:extLst>
          </p:cNvPr>
          <p:cNvSpPr>
            <a:spLocks noGrp="1"/>
          </p:cNvSpPr>
          <p:nvPr/>
        </p:nvSpPr>
        <p:spPr>
          <a:xfrm>
            <a:off x="4160520" y="4370832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E4EEEC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56FBE00-FD0D-4FAF-A08A-80939AA3CFD1}"/>
              </a:ext>
            </a:extLst>
          </p:cNvPr>
          <p:cNvSpPr>
            <a:spLocks noGrp="1"/>
          </p:cNvSpPr>
          <p:nvPr/>
        </p:nvSpPr>
        <p:spPr>
          <a:xfrm>
            <a:off x="4343400" y="4370832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A6E77"/>
                </a:solidFill>
                <a:latin typeface="Calibri"/>
                <a:ea typeface="Calibri"/>
                <a:cs typeface="Calibri"/>
              </a:rPr>
              <a:t>What our app must provide:   </a:t>
            </a:r>
            <a:r>
              <a:rPr sz="120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Accessibility filters  ·  Shorter routes &amp; rest time  ·  Confidence warnings</a:t>
            </a:r>
            <a:endParaRPr sz="12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2BBF521-D9C2-440F-9E5E-665DB3A18793}"/>
              </a:ext>
            </a:extLst>
          </p:cNvPr>
          <p:cNvSpPr>
            <a:spLocks noGrp="1"/>
          </p:cNvSpPr>
          <p:nvPr/>
        </p:nvSpPr>
        <p:spPr>
          <a:xfrm>
            <a:off x="4160520" y="49834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F6FAF9"/>
          </a:solidFill>
          <a:effectLst>
            <a:outerShdw blurRad="101600" dist="38100" dir="5400000" algn="bl" rotWithShape="0">
              <a:srgbClr val="9FB4B4">
                <a:alpha val="3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3B74D9F-8AA3-40AE-9069-3161E209CB60}"/>
              </a:ext>
            </a:extLst>
          </p:cNvPr>
          <p:cNvSpPr>
            <a:spLocks noGrp="1"/>
          </p:cNvSpPr>
          <p:nvPr/>
        </p:nvSpPr>
        <p:spPr>
          <a:xfrm>
            <a:off x="4389120" y="5074920"/>
            <a:ext cx="70866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2F454A"/>
                </a:solidFill>
                <a:latin typeface="Calibri"/>
                <a:ea typeface="Calibri"/>
                <a:cs typeface="Calibri"/>
              </a:rPr>
              <a:t>Michael loves history and museums, but a knee condition limits how far he can walk in a day. He avoids booking trips because he can't tell in advance whether a plan will be manageable. He needs walking limits respected and honest warnings when accessibility data is uncertain.</a:t>
            </a:r>
            <a:endParaRPr sz="115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61426D-EF2C-4C23-A6BD-B8BC11DAC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 l="0" t="0" r="0" b="0"/>
          </a:stretch>
        </p:blipFill>
        <p:spPr>
          <a:xfrm>
            <a:off x="1511808" y="1417320"/>
            <a:ext cx="1456944" cy="21854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Minimum Viable Product | Scope &amp;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Target: one traveler can create, understand, and revise a usable itinerary for Lisbon.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67B80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58568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1">
                <a:solidFill>
                  <a:srgbClr val="143F46"/>
                </a:solidFill>
                <a:latin typeface="Aptos"/>
              </a:rPr>
              <a:t>Set trip preferences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44368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Dates, interests, pace, budget, walking limits, and dietary choices.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556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67B8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58568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1">
                <a:solidFill>
                  <a:srgbClr val="143F46"/>
                </a:solidFill>
                <a:latin typeface="Aptos"/>
              </a:rPr>
              <a:t>Build a feasible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44368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Rank Lisbon places and schedule visits around real constraints.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55648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67B8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58568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1">
                <a:solidFill>
                  <a:srgbClr val="143F46"/>
                </a:solidFill>
                <a:latin typeface="Aptos"/>
              </a:rPr>
              <a:t>Review and revise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44368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Show times, costs, reasons, warnings, and support feedback.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52544"/>
            <a:ext cx="10698480" cy="22860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08576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1">
                <a:solidFill>
                  <a:srgbClr val="167B80"/>
                </a:solidFill>
                <a:latin typeface="Aptos"/>
              </a:rPr>
              <a:t>SPRINT 1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0857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1">
                <a:solidFill>
                  <a:srgbClr val="975611"/>
                </a:solidFill>
                <a:latin typeface="Aptos"/>
              </a:rPr>
              <a:t>NOT YET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02352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800">
                <a:solidFill>
                  <a:srgbClr val="202F36"/>
                </a:solidFill>
                <a:latin typeface="Aptos"/>
              </a:rPr>
              <a:t>Form and sample itinerary shown.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202F36"/>
                </a:solidFill>
                <a:latin typeface="Aptos"/>
              </a:rPr>
              <a:t>Saved-trip / feedback API checks pass.</a:t>
            </a:r>
          </a:p>
          <a:p>
            <a:pPr>
              <a:spcAft>
                <a:spcPts val="300"/>
              </a:spcAft>
            </a:pPr>
            <a:r>
              <a:rPr sz="1800">
                <a:solidFill>
                  <a:srgbClr val="202F36"/>
                </a:solidFill>
                <a:latin typeface="Aptos"/>
              </a:rPr>
              <a:t>Synthetic ranking results available.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02352"/>
            <a:ext cx="50292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700">
                <a:solidFill>
                  <a:srgbClr val="202F36"/>
                </a:solidFill>
                <a:latin typeface="Aptos"/>
              </a:rPr>
              <a:t>Stub UI: travel, hours, budget not enforced.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202F36"/>
                </a:solidFill>
                <a:latin typeface="Aptos"/>
              </a:rPr>
              <a:t>Live-data / optimizer integration unfinished.</a:t>
            </a:r>
          </a:p>
          <a:p>
            <a:pPr>
              <a:spcAft>
                <a:spcPts val="300"/>
              </a:spcAft>
            </a:pPr>
            <a:r>
              <a:rPr sz="1700">
                <a:solidFill>
                  <a:srgbClr val="202F36"/>
                </a:solidFill>
                <a:latin typeface="Aptos"/>
              </a:rPr>
              <a:t>Traveler feedback UI not yet built.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300" dirty="0">
                <a:solidFill>
                  <a:srgbClr val="2376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Technologies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8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5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free and open source, with nothing paid in the critical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35101"/>
            <a:ext cx="3420517" cy="1419820"/>
          </a:xfrm>
          <a:prstGeom prst="roundRect">
            <a:avLst>
              <a:gd name="adj" fmla="val 7156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6000" y="2515741"/>
            <a:ext cx="88900" cy="88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6500" y="2438301"/>
            <a:ext cx="116216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Languages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758331"/>
            <a:ext cx="310454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3.11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5717" y="2235101"/>
            <a:ext cx="3420517" cy="1419820"/>
          </a:xfrm>
          <a:prstGeom prst="roundRect">
            <a:avLst>
              <a:gd name="adj" fmla="val 7156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88917" y="2515741"/>
            <a:ext cx="88900" cy="88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9417" y="2438301"/>
            <a:ext cx="162204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Backend &amp; API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88917" y="2758331"/>
            <a:ext cx="310454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· uvicorn · Pydantic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JSON Schema contract checks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SQLite for saved trips </a:t>
            </a:r>
            <a:r>
              <a:rPr lang="en-US" sz="1300" dirty="0">
                <a:solidFill>
                  <a:srgbClr val="2376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(new)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58634" y="2235101"/>
            <a:ext cx="3420566" cy="1419820"/>
          </a:xfrm>
          <a:prstGeom prst="roundRect">
            <a:avLst>
              <a:gd name="adj" fmla="val 7156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1834" y="2515741"/>
            <a:ext cx="88900" cy="889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2334" y="2438301"/>
            <a:ext cx="26961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Machine learning &amp; data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61834" y="2758331"/>
            <a:ext cx="31045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LightGBM learning-to-rank · NumPy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OpenStreetMap + Overpass </a:t>
            </a:r>
            <a:r>
              <a:rPr lang="en-US" sz="1300" dirty="0">
                <a:solidFill>
                  <a:srgbClr val="A855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(in review)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800" y="3807321"/>
            <a:ext cx="3420517" cy="1188690"/>
          </a:xfrm>
          <a:prstGeom prst="roundRect">
            <a:avLst>
              <a:gd name="adj" fmla="val 8547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6000" y="4087961"/>
            <a:ext cx="88900" cy="889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6500" y="4010521"/>
            <a:ext cx="10058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Frontend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16000" y="4330551"/>
            <a:ext cx="310454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Vite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85717" y="3807321"/>
            <a:ext cx="3420517" cy="1188690"/>
          </a:xfrm>
          <a:prstGeom prst="roundRect">
            <a:avLst>
              <a:gd name="adj" fmla="val 8547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88917" y="4087961"/>
            <a:ext cx="88900" cy="88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79417" y="4010521"/>
            <a:ext cx="4698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LLM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88917" y="4330551"/>
            <a:ext cx="31045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Ollama, local model </a:t>
            </a:r>
            <a:r>
              <a:rPr lang="en-US" sz="1300" dirty="0">
                <a:solidFill>
                  <a:srgbClr val="5E6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(planned)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958634" y="3807321"/>
            <a:ext cx="3420566" cy="1188690"/>
          </a:xfrm>
          <a:prstGeom prst="roundRect">
            <a:avLst>
              <a:gd name="adj" fmla="val 8547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61834" y="4087961"/>
            <a:ext cx="88900" cy="889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52334" y="4010521"/>
            <a:ext cx="176057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Dev, CI &amp; testing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161834" y="4330551"/>
            <a:ext cx="310459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Actions CI · uv · make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ruff · pytest · vitest</a:t>
            </a:r>
            <a:endParaRPr lang="en-US" sz="1300" dirty="0"/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300" dirty="0">
                <a:solidFill>
                  <a:srgbClr val="2376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ALGORITHMS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Algorithms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8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5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LLM never plans the trip. A trained ranker and a deterministic scheduler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35101"/>
            <a:ext cx="4572000" cy="2941092"/>
          </a:xfrm>
          <a:prstGeom prst="roundRect">
            <a:avLst>
              <a:gd name="adj" fmla="val 3454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6000" y="2515741"/>
            <a:ext cx="88900" cy="88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6500" y="2438301"/>
            <a:ext cx="188124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Learning-to-rank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809131"/>
            <a:ext cx="429056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LightGBM LambdaRank. NDCG@5 on held-out travelers, higher is better: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16000" y="3398391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Trained model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05100" y="3416151"/>
            <a:ext cx="1765300" cy="177800"/>
          </a:xfrm>
          <a:prstGeom prst="roundRect">
            <a:avLst>
              <a:gd name="adj" fmla="val 21429"/>
            </a:avLst>
          </a:prstGeom>
          <a:solidFill>
            <a:srgbClr val="2B8A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0" y="3398391"/>
            <a:ext cx="419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575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0.958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6000" y="3738711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Hand-coded scorer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05100" y="3756471"/>
            <a:ext cx="1720850" cy="177800"/>
          </a:xfrm>
          <a:prstGeom prst="roundRect">
            <a:avLst>
              <a:gd name="adj" fmla="val 21429"/>
            </a:avLst>
          </a:prstGeom>
          <a:solidFill>
            <a:srgbClr val="9AA6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27550" y="3738711"/>
            <a:ext cx="416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~0.93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16000" y="407903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Popularity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05100" y="4096792"/>
            <a:ext cx="977900" cy="177800"/>
          </a:xfrm>
          <a:prstGeom prst="roundRect">
            <a:avLst>
              <a:gd name="adj" fmla="val 21429"/>
            </a:avLst>
          </a:prstGeom>
          <a:solidFill>
            <a:srgbClr val="9AA6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84600" y="4079032"/>
            <a:ext cx="416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0.532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16000" y="441935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05100" y="4437112"/>
            <a:ext cx="977900" cy="177800"/>
          </a:xfrm>
          <a:prstGeom prst="roundRect">
            <a:avLst>
              <a:gd name="adj" fmla="val 21429"/>
            </a:avLst>
          </a:prstGeom>
          <a:solidFill>
            <a:srgbClr val="9AA6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784600" y="4419352"/>
            <a:ext cx="4169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0.532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16000" y="4759672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E6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Synthetic travelers in Sprint 1; real data in Sprint 2.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537200" y="2235101"/>
            <a:ext cx="2844800" cy="1509911"/>
          </a:xfrm>
          <a:prstGeom prst="roundRect">
            <a:avLst>
              <a:gd name="adj" fmla="val 6729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40400" y="2515741"/>
            <a:ext cx="88900" cy="889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930900" y="2438301"/>
            <a:ext cx="24511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Itinerary optimization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740400" y="2758331"/>
            <a:ext cx="251155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Greedy day packing today; constraint-aware optimizer </a:t>
            </a:r>
            <a:r>
              <a:rPr lang="en-US" sz="1300" dirty="0">
                <a:solidFill>
                  <a:srgbClr val="A855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review</a:t>
            </a: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534400" y="2235101"/>
            <a:ext cx="2844800" cy="1509911"/>
          </a:xfrm>
          <a:prstGeom prst="roundRect">
            <a:avLst>
              <a:gd name="adj" fmla="val 6729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7600" y="2515741"/>
            <a:ext cx="88900" cy="889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928100" y="2438301"/>
            <a:ext cx="205073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Distance &amp; routing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737600" y="2758331"/>
            <a:ext cx="251155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Haversine × 1.3 at 4.5 km/h walking. OSRM check </a:t>
            </a:r>
            <a:r>
              <a:rPr lang="en-US" sz="1300" dirty="0">
                <a:solidFill>
                  <a:srgbClr val="A855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pending</a:t>
            </a: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537200" y="3897412"/>
            <a:ext cx="2844800" cy="1278781"/>
          </a:xfrm>
          <a:prstGeom prst="roundRect">
            <a:avLst>
              <a:gd name="adj" fmla="val 7945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ellips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40400" y="4178052"/>
            <a:ext cx="88900" cy="889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930900" y="4100612"/>
            <a:ext cx="237333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Feedback re-planning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5740400" y="4420642"/>
            <a:ext cx="251155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Rejected places are dropped and the trip is re-planned </a:t>
            </a:r>
            <a:r>
              <a:rPr lang="en-US" sz="1300" dirty="0">
                <a:solidFill>
                  <a:srgbClr val="2376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(new)</a:t>
            </a: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534400" y="3897412"/>
            <a:ext cx="2844800" cy="1278781"/>
          </a:xfrm>
          <a:prstGeom prst="roundRect">
            <a:avLst>
              <a:gd name="adj" fmla="val 7945"/>
            </a:avLst>
          </a:prstGeom>
          <a:solidFill>
            <a:srgbClr val="EEF2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ellip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7600" y="4178052"/>
            <a:ext cx="88900" cy="889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928100" y="4100612"/>
            <a:ext cx="237208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5752"/>
                </a:solidFill>
                <a:latin typeface="Caladea" pitchFamily="18" charset="0"/>
                <a:ea typeface="Caladea" pitchFamily="18" charset="-122"/>
                <a:cs typeface="Caladea" pitchFamily="18" charset="-120"/>
              </a:rPr>
              <a:t>Preference extraction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8737600" y="4420642"/>
            <a:ext cx="251155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turns free text into a validated profile </a:t>
            </a:r>
            <a:r>
              <a:rPr lang="en-US" sz="1300" dirty="0">
                <a:solidFill>
                  <a:srgbClr val="5E6A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(planned)</a:t>
            </a:r>
            <a:r>
              <a:rPr lang="en-US" sz="1300" dirty="0">
                <a:solidFill>
                  <a:srgbClr val="3E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1300" dirty="0"/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Architecture diagram | planned end-to-end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28800" cy="123444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1. User interface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React + TypeScript</a:t>
            </a:r>
            <a:br/>
            <a:r>
              <a:t>preferences &amp; itinerary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331720"/>
            <a:ext cx="18288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2. API layer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FastAPI</a:t>
            </a:r>
            <a:br/>
            <a:r>
              <a:t>request / session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331720"/>
            <a:ext cx="1828800" cy="123444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3. Preference &amp; ranker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Structured profile</a:t>
            </a:r>
            <a:br/>
            <a:r>
              <a:t>candidate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331720"/>
            <a:ext cx="1828800" cy="123444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4. Optimizer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Select + order activities</a:t>
            </a:r>
            <a:br/>
            <a:r>
              <a:t>respect constraints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2331720"/>
            <a:ext cx="1828800" cy="123444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5. Itinerary output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Day-by-day plan</a:t>
            </a:r>
            <a:br/>
            <a:r>
              <a:t>with explanations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944368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09160" y="2944368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2944368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81160" y="2944368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3063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4160520"/>
            <a:ext cx="73152" cy="1097280"/>
          </a:xfrm>
          <a:prstGeom prst="rect">
            <a:avLst/>
          </a:prstGeom>
          <a:solidFill>
            <a:srgbClr val="3970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325112"/>
            <a:ext cx="2697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A43"/>
                </a:solidFill>
                <a:latin typeface="Aptos"/>
              </a:defRPr>
            </a:pPr>
            <a:r>
              <a:t>Data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727448"/>
            <a:ext cx="2697480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644"/>
                </a:solidFill>
                <a:latin typeface="Aptos"/>
              </a:defRPr>
            </a:pPr>
            <a:r>
              <a:t>Curated places, opening hours,</a:t>
            </a:r>
            <a:br/>
            <a:r>
              <a:t>coordinates and travel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160520"/>
            <a:ext cx="3063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160520"/>
            <a:ext cx="73152" cy="1097280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73168" y="4325112"/>
            <a:ext cx="2697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A43"/>
                </a:solidFill>
                <a:latin typeface="Aptos"/>
              </a:defRPr>
            </a:pPr>
            <a:r>
              <a:t>Conversation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727448"/>
            <a:ext cx="2697480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644"/>
                </a:solidFill>
                <a:latin typeface="Aptos"/>
              </a:defRPr>
            </a:pPr>
            <a:r>
              <a:t>User asks for changes; profile</a:t>
            </a:r>
            <a:br/>
            <a:r>
              <a:t>and itinerary are revised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160520"/>
            <a:ext cx="30632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4160520"/>
            <a:ext cx="73152" cy="1097280"/>
          </a:xfrm>
          <a:prstGeom prst="rect">
            <a:avLst/>
          </a:prstGeom>
          <a:solidFill>
            <a:srgbClr val="E7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8" y="4325112"/>
            <a:ext cx="2697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A43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727448"/>
            <a:ext cx="2697480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644"/>
                </a:solidFill>
                <a:latin typeface="Aptos"/>
              </a:defRPr>
            </a:pPr>
            <a:r>
              <a:t>LLM supports language; optimizer</a:t>
            </a:r>
            <a:br/>
            <a:r>
              <a:t>owns schedule selection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423160" y="3566160"/>
            <a:ext cx="3520440" cy="594360"/>
          </a:xfrm>
          <a:prstGeom prst="line">
            <a:avLst/>
          </a:prstGeom>
          <a:ln w="15240">
            <a:solidFill>
              <a:srgbClr val="667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80760" y="3566160"/>
            <a:ext cx="0" cy="594360"/>
          </a:xfrm>
          <a:prstGeom prst="line">
            <a:avLst/>
          </a:prstGeom>
          <a:ln w="15240">
            <a:solidFill>
              <a:srgbClr val="667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8366760" y="3566160"/>
            <a:ext cx="1371600" cy="594360"/>
          </a:xfrm>
          <a:prstGeom prst="line">
            <a:avLst/>
          </a:prstGeom>
          <a:ln w="15240">
            <a:solidFill>
              <a:srgbClr val="6674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Context diagram | system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2057400" cy="100584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Traveler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Destination, dates,</a:t>
            </a:r>
            <a:br/>
            <a:r>
              <a:t>preferences,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057400"/>
            <a:ext cx="2743200" cy="150876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500" b="1">
                <a:solidFill>
                  <a:srgbClr val="182A43"/>
                </a:solidFill>
                <a:latin typeface="Aptos"/>
              </a:defRPr>
            </a:pPr>
            <a:r>
              <a:t>Wanderwise planner</a:t>
            </a:r>
          </a:p>
          <a:p>
            <a:pPr algn="ctr">
              <a:defRPr sz="1100">
                <a:solidFill>
                  <a:srgbClr val="667486"/>
                </a:solidFill>
                <a:latin typeface="Aptos"/>
              </a:defRPr>
            </a:pPr>
            <a:r>
              <a:t>Profile extraction • place ranking</a:t>
            </a:r>
            <a:br/>
            <a:r>
              <a:t>schedule optimization • explanations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691640"/>
            <a:ext cx="21488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Places data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Attractions, hours,</a:t>
            </a:r>
            <a:br/>
            <a:r>
              <a:t>location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971800"/>
            <a:ext cx="21488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Travel-time data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Estimated travel between</a:t>
            </a:r>
            <a:br/>
            <a:r>
              <a:t>candidate places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4251960"/>
            <a:ext cx="214884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LLM service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Parse preferences and</a:t>
            </a:r>
            <a:br/>
            <a:r>
              <a:t>explain recommendations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651760"/>
            <a:ext cx="169164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80360" y="3154680"/>
            <a:ext cx="1691640" cy="0"/>
          </a:xfrm>
          <a:prstGeom prst="line">
            <a:avLst/>
          </a:prstGeom>
          <a:ln w="22860">
            <a:solidFill>
              <a:srgbClr val="20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15200" y="2148840"/>
            <a:ext cx="1737360" cy="27432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2788920"/>
            <a:ext cx="1737360" cy="64008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3200400"/>
            <a:ext cx="1737360" cy="137160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ER diagram | data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377440" cy="109728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TRIP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trip_id (PK)</a:t>
            </a:r>
            <a:br/>
            <a:r>
              <a:t>destination, dates,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74519"/>
            <a:ext cx="23774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TRAVELER_PROFILE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profile_id (PK)</a:t>
            </a:r>
            <a:br/>
            <a:r>
              <a:t>preferences, constraints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74519"/>
            <a:ext cx="2377440" cy="109728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ITINERARY_DAY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day_id (PK)</a:t>
            </a:r>
            <a:br/>
            <a:r>
              <a:t>trip_id (FK), 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874519"/>
            <a:ext cx="22402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PLACE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place_id (PK)</a:t>
            </a:r>
            <a:br/>
            <a:r>
              <a:t>name, category, hours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69080"/>
            <a:ext cx="2377440" cy="109728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SCHEDULED_STOP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stop_id (PK)</a:t>
            </a:r>
            <a:br/>
            <a:r>
              <a:t>day_id (FK), place_id (FK)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2423160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423160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869680" y="2971800"/>
            <a:ext cx="1508760" cy="109728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2971800"/>
            <a:ext cx="0" cy="109728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Sequence diagram | generate an itinerary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691640" cy="50292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000" b="1">
                <a:solidFill>
                  <a:srgbClr val="182A43"/>
                </a:solidFill>
                <a:latin typeface="Aptos"/>
              </a:defRPr>
            </a:pPr>
            <a:r>
              <a:t>Traveler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85900" y="2057400"/>
            <a:ext cx="0" cy="3291840"/>
          </a:xfrm>
          <a:prstGeom prst="line">
            <a:avLst/>
          </a:prstGeom>
          <a:ln w="13970">
            <a:solidFill>
              <a:srgbClr val="DAE2E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554480"/>
            <a:ext cx="1691640" cy="50292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000" b="1">
                <a:solidFill>
                  <a:srgbClr val="182A43"/>
                </a:solidFill>
                <a:latin typeface="Aptos"/>
              </a:defRPr>
            </a:pPr>
            <a: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9020" y="2057400"/>
            <a:ext cx="0" cy="3291840"/>
          </a:xfrm>
          <a:prstGeom prst="line">
            <a:avLst/>
          </a:prstGeom>
          <a:ln w="13970">
            <a:solidFill>
              <a:srgbClr val="DAE2E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46320" y="1554480"/>
            <a:ext cx="1691640" cy="50292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000" b="1">
                <a:solidFill>
                  <a:srgbClr val="182A43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92140" y="2057400"/>
            <a:ext cx="0" cy="3291840"/>
          </a:xfrm>
          <a:prstGeom prst="line">
            <a:avLst/>
          </a:prstGeom>
          <a:ln w="13970">
            <a:solidFill>
              <a:srgbClr val="DAE2E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1554480"/>
            <a:ext cx="2057400" cy="50292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000" b="1">
                <a:solidFill>
                  <a:srgbClr val="182A43"/>
                </a:solidFill>
                <a:latin typeface="Aptos"/>
              </a:defRPr>
            </a:pPr>
            <a:r>
              <a:t>Ranker + optimizer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78140" y="2057400"/>
            <a:ext cx="0" cy="3291840"/>
          </a:xfrm>
          <a:prstGeom prst="line">
            <a:avLst/>
          </a:prstGeom>
          <a:ln w="13970">
            <a:solidFill>
              <a:srgbClr val="DAE2E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554480"/>
            <a:ext cx="1691640" cy="50292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000" b="1">
                <a:solidFill>
                  <a:srgbClr val="182A43"/>
                </a:solidFill>
                <a:latin typeface="Aptos"/>
              </a:defRPr>
            </a:pPr>
            <a:r>
              <a:t>Place / travel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09860" y="2057400"/>
            <a:ext cx="0" cy="3291840"/>
          </a:xfrm>
          <a:prstGeom prst="line">
            <a:avLst/>
          </a:prstGeom>
          <a:ln w="13970">
            <a:solidFill>
              <a:srgbClr val="DAE2E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58568" y="2331720"/>
            <a:ext cx="667512" cy="0"/>
          </a:xfrm>
          <a:prstGeom prst="line">
            <a:avLst/>
          </a:prstGeom>
          <a:ln w="1524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64208" y="2075687"/>
            <a:ext cx="1371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2B3644"/>
                </a:solidFill>
                <a:latin typeface="Aptos"/>
              </a:defRPr>
            </a:pPr>
            <a:r>
              <a:t>Submit trip preferences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3154680"/>
            <a:ext cx="1508760" cy="0"/>
          </a:xfrm>
          <a:prstGeom prst="line">
            <a:avLst/>
          </a:prstGeom>
          <a:ln w="1524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0" y="2898648"/>
            <a:ext cx="192023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2B3644"/>
                </a:solidFill>
                <a:latin typeface="Aptos"/>
              </a:defRPr>
            </a:pPr>
            <a:r>
              <a:t>POST trip request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23559" y="3977639"/>
            <a:ext cx="1508761" cy="0"/>
          </a:xfrm>
          <a:prstGeom prst="line">
            <a:avLst/>
          </a:prstGeom>
          <a:ln w="1524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3721607"/>
            <a:ext cx="192023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2B3644"/>
                </a:solidFill>
                <a:latin typeface="Aptos"/>
              </a:defRPr>
            </a:pPr>
            <a:r>
              <a:t>Build structured profile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26679" y="4617720"/>
            <a:ext cx="1920240" cy="0"/>
          </a:xfrm>
          <a:prstGeom prst="line">
            <a:avLst/>
          </a:prstGeom>
          <a:ln w="15240">
            <a:solidFill>
              <a:srgbClr val="20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0" y="436168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2B3644"/>
                </a:solidFill>
                <a:latin typeface="Aptos"/>
              </a:defRPr>
            </a:pPr>
            <a:r>
              <a:t>Fetch candidate places / times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029200" y="5166360"/>
            <a:ext cx="2697479" cy="0"/>
          </a:xfrm>
          <a:prstGeom prst="line">
            <a:avLst/>
          </a:prstGeom>
          <a:ln w="15240">
            <a:solidFill>
              <a:srgbClr val="20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29200" y="4910328"/>
            <a:ext cx="192023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0">
                <a:solidFill>
                  <a:srgbClr val="2B3644"/>
                </a:solidFill>
                <a:latin typeface="Aptos"/>
              </a:defRPr>
            </a:pPr>
            <a:r>
              <a:t>Return scheduled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State diagram | itinerary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645920" cy="82296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Draft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16459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Preferences</a:t>
            </a:r>
            <a:br/>
            <a:r>
              <a:t>structured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920240"/>
            <a:ext cx="1645920" cy="82296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Candidates</a:t>
            </a:r>
            <a:br/>
            <a:r>
              <a:t>ranked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920240"/>
            <a:ext cx="1645920" cy="82296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Schedule</a:t>
            </a:r>
            <a:br/>
            <a:r>
              <a:t>optimized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1920240"/>
            <a:ext cx="1645920" cy="82296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200" b="1">
                <a:solidFill>
                  <a:srgbClr val="182A43"/>
                </a:solidFill>
                <a:latin typeface="Aptos"/>
              </a:defRPr>
            </a:pPr>
            <a:r>
              <a:t>Itinerary</a:t>
            </a:r>
            <a:br/>
            <a:r>
              <a:t>presented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2331720"/>
            <a:ext cx="50292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331720"/>
            <a:ext cx="50292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20840" y="2331720"/>
            <a:ext cx="50292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69680" y="2331720"/>
            <a:ext cx="50292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1560" y="3703320"/>
            <a:ext cx="4114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3703320"/>
            <a:ext cx="73152" cy="1143000"/>
          </a:xfrm>
          <a:prstGeom prst="rect">
            <a:avLst/>
          </a:prstGeom>
          <a:solidFill>
            <a:srgbClr val="E7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52728" y="3867911"/>
            <a:ext cx="374903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A43"/>
                </a:solidFill>
                <a:latin typeface="Aptos"/>
              </a:defRPr>
            </a:pPr>
            <a:r>
              <a:rPr sz="1400"/>
              <a:t>If data or constraints are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270248"/>
            <a:ext cx="3749039" cy="429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644"/>
                </a:solidFill>
                <a:latin typeface="Aptos"/>
              </a:defRPr>
            </a:pPr>
            <a:r>
              <a:t>Ask a clarifying question or flag unavailable information; do not silently assume.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3703320"/>
            <a:ext cx="4114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97880" y="3703320"/>
            <a:ext cx="73152" cy="1143000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9048" y="3867911"/>
            <a:ext cx="374903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182A43"/>
                </a:solidFill>
                <a:latin typeface="Aptos"/>
              </a:defRPr>
            </a:pPr>
            <a:r>
              <a:rPr sz="1400"/>
              <a:t>If the user requests a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4270248"/>
            <a:ext cx="3749039" cy="4297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2B3644"/>
                </a:solidFill>
                <a:latin typeface="Aptos"/>
              </a:defRPr>
            </a:pPr>
            <a:r>
              <a:t>Update the request/profile and re-run ranking or scheduling for the affected plan.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108960" y="2743200"/>
            <a:ext cx="640079" cy="960120"/>
          </a:xfrm>
          <a:prstGeom prst="line">
            <a:avLst/>
          </a:prstGeom>
          <a:ln w="15240">
            <a:solidFill>
              <a:srgbClr val="E79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955279" y="2743200"/>
            <a:ext cx="2194561" cy="960120"/>
          </a:xfrm>
          <a:prstGeom prst="line">
            <a:avLst/>
          </a:prstGeom>
          <a:ln w="15240">
            <a:solidFill>
              <a:srgbClr val="20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Class diagram | core domain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331720" cy="114300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TravelerProfile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budget • interests • pace</a:t>
            </a:r>
            <a:br/>
            <a:r>
              <a:t>accessibility •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33172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TripRequest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destination • start/end date</a:t>
            </a:r>
            <a:br/>
            <a:r>
              <a:t>trip length •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2331720" cy="114300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Place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category • location • cost</a:t>
            </a:r>
            <a:br/>
            <a:r>
              <a:t>opening hours •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828800"/>
            <a:ext cx="20574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TravelLeg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from • to • duration</a:t>
            </a:r>
            <a:br/>
            <a:r>
              <a:t>mode / distance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977639"/>
            <a:ext cx="2331720" cy="1143000"/>
          </a:xfrm>
          <a:prstGeom prst="roundRect">
            <a:avLst/>
          </a:prstGeom>
          <a:solidFill>
            <a:srgbClr val="E1ECF9"/>
          </a:solidFill>
          <a:ln w="15240">
            <a:solidFill>
              <a:srgbClr val="3970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Itinerary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days • selected activities</a:t>
            </a:r>
            <a:br/>
            <a:r>
              <a:t>budget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977639"/>
            <a:ext cx="2331720" cy="1143000"/>
          </a:xfrm>
          <a:prstGeom prst="roundRect">
            <a:avLst/>
          </a:prstGeom>
          <a:solidFill>
            <a:srgbClr val="DEF3EE"/>
          </a:solidFill>
          <a:ln w="15240">
            <a:solidFill>
              <a:srgbClr val="209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bIns="27432" rtlCol="0" anchor="ctr"/>
          <a:lstStyle/>
          <a:p>
            <a:pPr algn="ctr">
              <a:defRPr sz="1300" b="1">
                <a:solidFill>
                  <a:srgbClr val="182A43"/>
                </a:solidFill>
                <a:latin typeface="Aptos"/>
              </a:defRPr>
            </a:pPr>
            <a:r>
              <a:t>ScheduledActivity</a:t>
            </a:r>
          </a:p>
          <a:p>
            <a:pPr algn="ctr">
              <a:defRPr sz="1000">
                <a:solidFill>
                  <a:srgbClr val="667486"/>
                </a:solidFill>
                <a:latin typeface="Aptos"/>
              </a:defRPr>
            </a:pPr>
            <a:r>
              <a:t>place • day • start/end</a:t>
            </a:r>
            <a:br/>
            <a:r>
              <a:t>score • sequence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377440"/>
            <a:ext cx="59436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2377440"/>
            <a:ext cx="59436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971800"/>
            <a:ext cx="0" cy="1005839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89320" y="4526280"/>
            <a:ext cx="59436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15400" y="2377440"/>
            <a:ext cx="457200" cy="0"/>
          </a:xfrm>
          <a:prstGeom prst="line">
            <a:avLst/>
          </a:prstGeom>
          <a:ln w="22860">
            <a:solidFill>
              <a:srgbClr val="3970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Product Backlog | Status After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Product-level statuses are reported in the source; they are not verified TS/US story closures.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1737360"/>
                <a:gridCol w="5550408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#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Product backlog item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Evidence / limitation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Enter trip details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Validated form; one blank-time defect remains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Build traveler profile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Partly done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Form exists; free-text LLM not started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Retrieve city places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In review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Lisbon data; live ingest in review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Rank places with a model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Synthetic evaluation; real-data training next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Build a feasible daily plan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In review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Stub UI scheduler; optimizer in review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02F36"/>
                          </a:solidFill>
                          <a:latin typeface="Aptos"/>
                        </a:rPr>
                        <a:t>Display itinerary &amp; reasons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Sample plan displays times, costs, reasons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Adjust plan from feedback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Partly done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API exists; feedback UI not yet built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Save and reload trips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Done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202F36"/>
                          </a:solidFill>
                          <a:latin typeface="Aptos"/>
                        </a:rPr>
                        <a:t>SQLite storage; retrieval by trip ID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User Stories |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The two user-story IDs from the committed Sprint 1 backlog; technical stories follow.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67B80"/>
                </a:solidFill>
                <a:latin typeface="Aptos"/>
              </a:rPr>
              <a:t>US-01  |  Preference form &amp; input validation  |  5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As a traveler, I want to enter and validate my destination, dates, and interests so that my trip request can be sent to the planner.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52636B"/>
                </a:solidFill>
                <a:latin typeface="Aptos"/>
              </a:rPr>
              <a:t>Acceptance: destination, dates, and interest inputs are validated; a valid request reaches the planning API.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968496"/>
            <a:ext cx="10607040" cy="18288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1">
                <a:solidFill>
                  <a:srgbClr val="167B80"/>
                </a:solidFill>
                <a:latin typeface="Aptos"/>
              </a:rPr>
              <a:t>US-02  |  Itinerary display improvements  |  3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8"/>
            <a:ext cx="1060704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As a traveler, I want a readable daily itinerary so that I can understand my stops, schedule, costs, and recommendations.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96128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52636B"/>
                </a:solidFill>
                <a:latin typeface="Aptos"/>
              </a:rPr>
              <a:t>Acceptance: the daily itinerary displays stops, start/end times, cost, and recommendation details.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Backlog |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Seven committed stories / technical tasks • 35 story points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3703320"/>
                <a:gridCol w="5833872"/>
                <a:gridCol w="694944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Committed story / technical task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Acceptance criteria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Data collection, preprocessing &amp; ingestion pipeline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Lisbon records collected and cleaned; required fields documented; ingestion output validated against place schema.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TS-02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Travel itinerary optimization &amp; scheduling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Scheduler produces valid day-by-day plan while enforcing travel time, opening hours and constraints.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US-01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Travel preference form &amp; input validation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Destination, dates and interest inputs validated; valid request reaches planning API.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US-02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Frontend UI &amp; itinerary display improvements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A readable daily itinerary displays stops, start/end times, cost and recommendation details.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09904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52636B"/>
                </a:solidFill>
                <a:latin typeface="Aptos"/>
              </a:rPr>
              <a:t>The separate User Stories slide does not add points or duplicate commitment totals.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Backlog |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Seven committed stories / technical tasks • 35 story points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3703320"/>
                <a:gridCol w="5833872"/>
                <a:gridCol w="694944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Committed story / technical task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Acceptance criteria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Points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TS-03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Backend, saved trips &amp; feedback re-planning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Planning endpoint returns valid itinerary; saved trip retrieved by ID; rejected places excluded upon re-plan.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TS-04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Frontend, backend &amp; integration testing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Automated component tests run; frontend-to-backend full flow is tested and results recorded.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TS-05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Lisbon destination restriction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Requests for Lisbon are accepted; unsupported destinations are rejected or clearly limited to Lisbon.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099048"/>
            <a:ext cx="1078992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52636B"/>
                </a:solidFill>
                <a:latin typeface="Aptos"/>
              </a:rPr>
              <a:t>The separate User Stories slide does not add points or duplicate commitment totals.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1 | WANDERWISE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182A43"/>
                </a:solidFill>
                <a:latin typeface="Aptos"/>
              </a:defRPr>
            </a:pPr>
            <a:r>
              <a:t>Sprint 1 | stories and tasks to track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170432"/>
            <a:ext cx="658368" cy="54864"/>
          </a:xfrm>
          <a:prstGeom prst="rect">
            <a:avLst/>
          </a:prstGeom>
          <a:solidFill>
            <a:srgbClr val="2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920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WORK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51206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SPRINT TASK /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828800"/>
            <a:ext cx="3474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000" b="1">
                <a:solidFill>
                  <a:srgbClr val="209A91"/>
                </a:solidFill>
                <a:latin typeface="Aptos"/>
              </a:defRPr>
            </a:pPr>
            <a:r>
              <a:t>EVIDENCE TO SHOW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212848"/>
            <a:ext cx="1092708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322576"/>
            <a:ext cx="1828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82A43"/>
                </a:solidFill>
                <a:latin typeface="Aptos"/>
              </a:defRPr>
            </a:pPr>
            <a:r>
              <a:t>Preference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95144"/>
            <a:ext cx="5074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B3644"/>
                </a:solidFill>
                <a:latin typeface="Aptos"/>
              </a:defRPr>
            </a:pPr>
            <a:r>
              <a:t>Convert user inputs into a structured trip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95144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67486"/>
                </a:solidFill>
                <a:latin typeface="Aptos"/>
              </a:defRPr>
            </a:pPr>
            <a:r>
              <a:t>Example request → parsed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871215"/>
            <a:ext cx="10927080" cy="557784"/>
          </a:xfrm>
          <a:prstGeom prst="roundRect">
            <a:avLst/>
          </a:prstGeom>
          <a:solidFill>
            <a:srgbClr val="F8FA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80944"/>
            <a:ext cx="1828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82A43"/>
                </a:solidFill>
                <a:latin typeface="Aptos"/>
              </a:defRPr>
            </a:pPr>
            <a:r>
              <a:t>Candidate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53511"/>
            <a:ext cx="5074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B3644"/>
                </a:solidFill>
                <a:latin typeface="Aptos"/>
              </a:defRPr>
            </a:pPr>
            <a:r>
              <a:t>Score places against interests, budget and trip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953511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67486"/>
                </a:solidFill>
                <a:latin typeface="Aptos"/>
              </a:defRPr>
            </a:pPr>
            <a:r>
              <a:t>Ranked candidates / score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529584"/>
            <a:ext cx="1092708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1828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82A43"/>
                </a:solidFill>
                <a:latin typeface="Aptos"/>
              </a:defRPr>
            </a:pPr>
            <a:r>
              <a:t>Schedule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611879"/>
            <a:ext cx="5074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B3644"/>
                </a:solidFill>
                <a:latin typeface="Aptos"/>
              </a:defRPr>
            </a:pPr>
            <a:r>
              <a:t>Select and order activities across available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611879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67486"/>
                </a:solidFill>
                <a:latin typeface="Aptos"/>
              </a:defRPr>
            </a:pPr>
            <a:r>
              <a:t>Generated itinerary +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187952"/>
            <a:ext cx="10927080" cy="557784"/>
          </a:xfrm>
          <a:prstGeom prst="roundRect">
            <a:avLst/>
          </a:prstGeom>
          <a:solidFill>
            <a:srgbClr val="F8FAFD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297680"/>
            <a:ext cx="1828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82A43"/>
                </a:solidFill>
                <a:latin typeface="Aptos"/>
              </a:defRPr>
            </a:pPr>
            <a:r>
              <a:t>Data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270248"/>
            <a:ext cx="5074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B3644"/>
                </a:solidFill>
                <a:latin typeface="Aptos"/>
              </a:defRPr>
            </a:pPr>
            <a:r>
              <a:t>Use curated place details and available travel-time / hours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270248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67486"/>
                </a:solidFill>
                <a:latin typeface="Aptos"/>
              </a:defRPr>
            </a:pPr>
            <a:r>
              <a:t>Source fields and missing-data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4846320"/>
            <a:ext cx="10927080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956048"/>
            <a:ext cx="1828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1">
                <a:solidFill>
                  <a:srgbClr val="182A43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928616"/>
            <a:ext cx="5074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2B3644"/>
                </a:solidFill>
                <a:latin typeface="Aptos"/>
              </a:defRPr>
            </a:pPr>
            <a:r>
              <a:t>Test key user stories and record pass/fail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928616"/>
            <a:ext cx="3429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0">
                <a:solidFill>
                  <a:srgbClr val="667486"/>
                </a:solidFill>
                <a:latin typeface="Aptos"/>
              </a:defRPr>
            </a:pPr>
            <a:r>
              <a:t>Test cases linked to story IDs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Tests | Results &amp; Known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31 reported checks: 29 passed and 2 failed. No new tests were run for this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7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874519"/>
                <a:gridCol w="1600200"/>
                <a:gridCol w="4681728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Test area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Related backlog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Passed / total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Result / issue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Frontend inputs / daily times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US-01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6 / 7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Blank-time warning fails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Saved trips &amp; feedback API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TS-03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6 / 6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Retrieval, rejects, 404 / 422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Lisbon data processing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TS-01 / TS-05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7 / 7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Loading, fields, alias, city limit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Ranking component checks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TS-04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4 / 4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Synthetic ranking; food / nature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Optimizer / scheduler checks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TS-02 / TS-04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6 / 7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02F36"/>
                          </a:solidFill>
                          <a:latin typeface="Aptos"/>
                        </a:rPr>
                        <a:t>Inferred-hours penalty missing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650992"/>
            <a:ext cx="106070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0">
                <a:solidFill>
                  <a:srgbClr val="975611"/>
                </a:solidFill>
                <a:latin typeface="Aptos"/>
              </a:rPr>
              <a:t>Isolated component tests do not prove the screenshot UI enforces scheduling constraints.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Completed Work | Reported Product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Source-reported done features—not a verified closure list for the seven Sprint 1 TS/US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Trip-preference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2199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Inputs and sliders are visible; validation is reported done, with one blank-time warning defect.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4640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07208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Trained attraction 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46120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Synthetic evaluation is reported; this does not prove real-data model deployment in the UI.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58768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31336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Itinerary display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70248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The screenshot shows daily stops, times, estimated costs, reasons, and warning messages.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82896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55464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Saved trips and API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94376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Persistence, retrieval, and rejecting places pass the supplied backend checks; UI feedback is unfinished.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6089904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975611"/>
                </a:solidFill>
                <a:latin typeface="Aptos"/>
              </a:rPr>
              <a:t>Report 13 completed points separately; confirm story-level closure before presenting.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Unfinished Work | Carryover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Documented gaps from the product backlog, tests, and screenshot—not invented story closures.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Place-data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2199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Live ingest is in review; screenshot output still uses Lisbon sample places.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4640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07208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Constraint-aware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46120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UI warning says travel time, opening hours, and budget are not yet enforced.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58768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31336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Traveler-facing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70248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Backend re-planning exists; feedback UI is reported not yet built.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82896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55464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Known test failures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94376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Fix blank daily-time warnings and the missing inferred-hours confidence penalty.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6080760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300" b="0">
                <a:solidFill>
                  <a:srgbClr val="975611"/>
                </a:solidFill>
                <a:latin typeface="Aptos"/>
              </a:rPr>
              <a:t>22 points remain in the workbook. Exact TS/US carryover IDs and remaining estimates need confirmation.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Metrics | Team Velocity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Velocity is completed story points—not issue counts, tasks, or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1783080"/>
          <a:ext cx="69037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0" y="219456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5800" b="1">
                <a:solidFill>
                  <a:srgbClr val="167B80"/>
                </a:solidFill>
                <a:latin typeface="Aptos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600" b="0">
                <a:solidFill>
                  <a:srgbClr val="202F36"/>
                </a:solidFill>
                <a:latin typeface="Aptos"/>
              </a:rPr>
              <a:t>story points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600" b="0">
                <a:solidFill>
                  <a:srgbClr val="202F36"/>
                </a:solidFill>
                <a:latin typeface="Aptos"/>
              </a:rPr>
              <a:t>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634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100" b="0">
                <a:solidFill>
                  <a:srgbClr val="52636B"/>
                </a:solidFill>
                <a:latin typeface="Aptos"/>
              </a:rPr>
              <a:t>35 committed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100" b="0">
                <a:solidFill>
                  <a:srgbClr val="52636B"/>
                </a:solidFill>
                <a:latin typeface="Aptos"/>
              </a:rPr>
              <a:t>22 remaining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Metrics | Burndown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Remaining story points across the Sprint 1 reporting period.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1719072"/>
          <a:ext cx="10607040" cy="4251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6062472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600" b="0">
                <a:solidFill>
                  <a:srgbClr val="975611"/>
                </a:solidFill>
                <a:latin typeface="Aptos"/>
              </a:rPr>
              <a:t>Actual work remaining ends at 22 points; the ideal endpoint is 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Metrics | Completion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Completed / committed story points—not the percentage of tests passed.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1792224"/>
          <a:ext cx="61264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0" y="2157984"/>
            <a:ext cx="4114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5600" b="1">
                <a:solidFill>
                  <a:srgbClr val="167B80"/>
                </a:solidFill>
                <a:latin typeface="Aptos"/>
              </a:rPr>
              <a:t>37.1%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31012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700" b="0">
                <a:solidFill>
                  <a:srgbClr val="202F36"/>
                </a:solidFill>
                <a:latin typeface="Aptos"/>
              </a:rPr>
              <a:t>13 ÷ 35 story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2976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13 completed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0">
                <a:solidFill>
                  <a:srgbClr val="202F36"/>
                </a:solidFill>
                <a:latin typeface="Aptos"/>
              </a:rPr>
              <a:t>22 remaining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44184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500" b="0">
                <a:solidFill>
                  <a:srgbClr val="52636B"/>
                </a:solidFill>
                <a:latin typeface="Aptos"/>
              </a:rPr>
              <a:t>The 29 / 31 reported test result is a separate quality measure.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Retrospective | Evidence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Evidence-based review draft: team validation is required before presenting conclusions.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What worked — supported by supplied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2199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Preference and itinerary views exist; saved-trip / feedback checks pass; ranking evaluation is available.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4640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07208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What needs improvement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46120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Close live-data and optimizer integration gaps; fix two failed checks; reconcile story status with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58768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31336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Next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70248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Retest fixes, record acceptance evidence, and test the complete UI-to-backend 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82896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55464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Prior process actions — verify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94376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Add a definition of done to every story and hold a mid-sprint check-in each week; continue if unfinished.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2 Planning | Sprint 1 Carryover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Documented gaps and failed checks; confirm precise story IDs and commitments in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099048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Carryover work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Completion check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Finish Lisbon data integration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Product #3; related TS-01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Planning uses validated ingested Lisbon data, not only sample places.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Integrate constraint-aware scheduling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Product #5; related TS-02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UI planning / re-planning enforce travel, hours, time windows, and budget.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Complete feedback experience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Product #7; related TS-03 / US-02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Traveler can reject a place through the UI and receive an updated plan.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Fix and retest known defects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Related US-01 / TS-02 / TS-04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Clear blank-time validation; intended penalty for inferred opening hours.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58952" y="6062472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400" b="0">
                <a:solidFill>
                  <a:srgbClr val="975611"/>
                </a:solidFill>
                <a:latin typeface="Aptos"/>
              </a:rPr>
              <a:t>Keep Lisbon-only scope unless expansion is approved. The 22 remaining points are not allocated by guesswork.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2 | New Work &amp; Commitments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Proposed additional scope from the uploaded plan; no individual names or invented estimates.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6479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1">
                <a:solidFill>
                  <a:srgbClr val="167B80"/>
                </a:solidFill>
                <a:latin typeface="Aptos"/>
              </a:rPr>
              <a:t>ADDITIONAL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58568"/>
            <a:ext cx="5029200" cy="18288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6479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1">
                <a:solidFill>
                  <a:srgbClr val="167B80"/>
                </a:solidFill>
                <a:latin typeface="Aptos"/>
              </a:rPr>
              <a:t>QUALITY &amp; TEAM COMMITMENTS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58568"/>
            <a:ext cx="5029200" cy="18288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1">
                <a:solidFill>
                  <a:srgbClr val="143F46"/>
                </a:solidFill>
                <a:latin typeface="Aptos"/>
              </a:rPr>
              <a:t>Free-text preference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73552"/>
            <a:ext cx="50292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100" b="0">
                <a:solidFill>
                  <a:srgbClr val="202F36"/>
                </a:solidFill>
                <a:latin typeface="Aptos"/>
              </a:rPr>
              <a:t>Validate local Ollama output; retry invalid profiles; evaluate 20 sample descriptions.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62856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300" b="1">
                <a:solidFill>
                  <a:srgbClr val="143F46"/>
                </a:solidFill>
                <a:latin typeface="Aptos"/>
              </a:rPr>
              <a:t>Real-data ranking improvements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39512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100" b="0">
                <a:solidFill>
                  <a:srgbClr val="202F36"/>
                </a:solidFill>
                <a:latin typeface="Aptos"/>
              </a:rPr>
              <a:t>Train on real attractions; compare NDCG@5 with the baseline and update the model card.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502920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End-to-end and regression tests</a:t>
            </a:r>
          </a:p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Passing CI on the main branch</a:t>
            </a:r>
          </a:p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Recorded results and open issues</a:t>
            </a:r>
          </a:p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Definition of done on every story</a:t>
            </a:r>
          </a:p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Weekly mid-sprint check-ins</a:t>
            </a:r>
          </a:p>
          <a:p>
            <a:pPr>
              <a:lnSpc>
                <a:spcPct val="100000"/>
              </a:lnSpc>
              <a:spcAft>
                <a:spcPts val="17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• Confirmed scope and estimates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Application Screenshot | Trip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Actual supplied screenshot, enlarged in sections for readability.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0292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1">
                <a:solidFill>
                  <a:srgbClr val="167B80"/>
                </a:solidFill>
                <a:latin typeface="Aptos"/>
              </a:rPr>
              <a:t>TRIP DETAILS &amp; TRAVEL 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1">
                <a:solidFill>
                  <a:srgbClr val="167B80"/>
                </a:solidFill>
                <a:latin typeface="Aptos"/>
              </a:rPr>
              <a:t>INTERESTS &amp; DIETARY INPUT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029200" cy="183759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50791"/>
            <a:ext cx="5029200" cy="194812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57400"/>
            <a:ext cx="4663440" cy="33438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5513832"/>
            <a:ext cx="3383280" cy="7621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Application Screenshot | Generated Itinerary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Actual Lisbon sample output: daily stops, times, estimated prices, reasons, and warnings.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089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1">
                <a:solidFill>
                  <a:srgbClr val="167B80"/>
                </a:solidFill>
                <a:latin typeface="Aptos"/>
              </a:rPr>
              <a:t>DAY 1 &amp; WARNING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3474720" cy="325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1673352"/>
            <a:ext cx="31089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1">
                <a:solidFill>
                  <a:srgbClr val="167B80"/>
                </a:solidFill>
                <a:latin typeface="Aptos"/>
              </a:rPr>
              <a:t>DAY 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03120"/>
            <a:ext cx="3474720" cy="2197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673352"/>
            <a:ext cx="31089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1">
                <a:solidFill>
                  <a:srgbClr val="167B80"/>
                </a:solidFill>
                <a:latin typeface="Aptos"/>
              </a:rPr>
              <a:t>DAY 3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03120"/>
            <a:ext cx="3474720" cy="224352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1520" y="5522976"/>
            <a:ext cx="10698480" cy="630936"/>
          </a:xfrm>
          <a:prstGeom prst="rect">
            <a:avLst/>
          </a:prstGeom>
          <a:solidFill>
            <a:srgbClr val="FF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5641848"/>
            <a:ext cx="103327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800" b="1">
                <a:solidFill>
                  <a:srgbClr val="975611"/>
                </a:solidFill>
                <a:latin typeface="Aptos"/>
              </a:rPr>
              <a:t>Current UI uses a stub scheduler: travel time, opening hours, and budget are not yet enforced.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Sprint 1 API | Behaviors to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Reported backend test evidence; show actual request / response details in the live demonstration.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" y="1737360"/>
          <a:ext cx="10945368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007608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API behavior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Reported test result</a:t>
                      </a:r>
                    </a:p>
                  </a:txBody>
                  <a:tcPr marL="109728" marR="91440" marT="64008" marB="36576" anchor="ctr">
                    <a:solidFill>
                      <a:srgbClr val="143F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Retrieve a saved trip by ID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Returns the saved itinerary — PASS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Reject a place, then re-plan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Updated plan excludes the rejected place — PASS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Reject another place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Earlier and later rejections remain excluded — PASS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Request a missing trip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HTTP 404 — PASS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Send invalid feedback data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HTTP 422 — PASS</a:t>
                      </a:r>
                    </a:p>
                  </a:txBody>
                  <a:tcPr marL="109728" marR="91440" marT="64008" marB="36576" anchor="ctr">
                    <a:solidFill>
                      <a:srgbClr val="F0F6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Create separate trips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02F36"/>
                          </a:solidFill>
                          <a:latin typeface="Aptos"/>
                        </a:rPr>
                        <a:t>Earlier trip and feedback stay unchanged — PASS</a:t>
                      </a:r>
                    </a:p>
                  </a:txBody>
                  <a:tcPr marL="109728" marR="91440" marT="64008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" y="5870448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900" b="0">
                <a:solidFill>
                  <a:srgbClr val="167B80"/>
                </a:solidFill>
                <a:latin typeface="Aptos"/>
              </a:rPr>
              <a:t>Show the running API’s real route, request, response, trip ID, and status code.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Project Links | Repository &amp; Wiki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Code, sprint artifacts, and supporting documentation.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400" b="1">
                <a:solidFill>
                  <a:srgbClr val="143F46"/>
                </a:solidFill>
                <a:latin typeface="Aptos"/>
              </a:rPr>
              <a:t>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500" b="0">
                <a:solidFill>
                  <a:srgbClr val="167B80"/>
                </a:solidFill>
                <a:latin typeface="Aptos"/>
                <a:hlinkClick r:id="rId3"/>
              </a:rPr>
              <a:t>https://github.com/htmw/F2026-Team4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400" b="1">
                <a:solidFill>
                  <a:srgbClr val="143F46"/>
                </a:solidFill>
                <a:latin typeface="Aptos"/>
              </a:rPr>
              <a:t>Project Wiki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4456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500" b="0">
                <a:solidFill>
                  <a:srgbClr val="167B80"/>
                </a:solidFill>
                <a:latin typeface="Aptos"/>
                <a:hlinkClick r:id="rId4"/>
              </a:rPr>
              <a:t>https://github.com/htmw/F2026-Team4/wiki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82296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1000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3100" b="1">
                <a:solidFill>
                  <a:srgbClr val="143F46"/>
                </a:solidFill>
                <a:latin typeface="Aptos"/>
              </a:rPr>
              <a:t>Live Application Demo | Sprint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2708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700" b="0">
                <a:solidFill>
                  <a:srgbClr val="52636B"/>
                </a:solidFill>
                <a:latin typeface="Aptos"/>
              </a:rPr>
              <a:t>Demonstrate the current build honestly; distinguish UI behavior from isolated component tests.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260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DC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000" b="0">
                <a:solidFill>
                  <a:srgbClr val="52636B"/>
                </a:solidFill>
                <a:latin typeface="Aptos"/>
              </a:rPr>
              <a:t>Wanderwise  |  CS-691  |  Team F2026-Team4  |  Sprint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47104"/>
            <a:ext cx="457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1100" b="0">
                <a:solidFill>
                  <a:srgbClr val="52636B"/>
                </a:solidFill>
                <a:latin typeface="Aptos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62488" y="146304"/>
            <a:ext cx="813816" cy="210312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8208" y="164592"/>
            <a:ext cx="73152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67B80"/>
                </a:solidFill>
                <a:latin typeface="Aptos"/>
              </a:rPr>
              <a:t>UPDATED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10512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783080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1  Enter a Lisbon trip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21991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Show destination, dates, interests, and travel limits; make the Lisbon-only boundary explicit.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34640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07208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2  Inspect the generated itinerary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246120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Show days, stops, times, estimated prices, reasons, and the scheduler / opening-hours warnings.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858768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31336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3  Demonstrate persistence and feedback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70248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Retrieve a saved trip and reject a place using the API if the feedback UI is unfinished.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882896"/>
            <a:ext cx="50292" cy="612648"/>
          </a:xfrm>
          <a:prstGeom prst="rect">
            <a:avLst/>
          </a:prstGeom>
          <a:solidFill>
            <a:srgbClr val="167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55464"/>
            <a:ext cx="10442448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200" b="1">
                <a:solidFill>
                  <a:srgbClr val="143F46"/>
                </a:solidFill>
                <a:latin typeface="Aptos"/>
              </a:rPr>
              <a:t>4  Explain current 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294376"/>
            <a:ext cx="1044244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2000" b="0">
                <a:solidFill>
                  <a:srgbClr val="202F36"/>
                </a:solidFill>
                <a:latin typeface="Aptos"/>
              </a:rPr>
              <a:t>The screenshot UI uses sample places and a stub; data / optimizer integration remains in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_inserted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