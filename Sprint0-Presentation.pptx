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1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94577"/>
  </p:normalViewPr>
  <p:slideViewPr>
    <p:cSldViewPr snapToGrid="0" snapToObjects="1">
      <p:cViewPr varScale="1">
        <p:scale>
          <a:sx n="102" d="100"/>
          <a:sy n="102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3524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Contributor: Srija (title slide). Rebuilt into the unified theme.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Contributor: Srija (agenda).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Contributor: Ram (team roles).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Contributor: Sid (problem statement &amp; the gap).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Contributor: Sid (LLM role vs. verified data + optimizer).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Contributor: Ali (project description). Frames the app on the 'trained model ranks, optimizer schedules, LLM does language'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Contributor: Bala (personas draft)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Contributor: Bala (personas draft)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Contributor: Bala (personas draft)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Contributor: Ali (technologies). ML highlighted per the professor's 'train a model' requirement.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Contributor: Ali (algorithms). Core = trained learning-to-rank + itinerary optimization.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Contributor: Ram (project schedule). Added meeting cadence (rubric asks how often the team meets).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Contributor: Ali (MVP). Matches Deliverable-0's MVP-definition requirement.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Contributor: Ram (team working agreement). Word + PDF exports linked on the wiki.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Contributor: Ali (retrospective template). TEAM must finalize this together in the recorded group retro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FF389-AD09-F2C9-AA57-E571F1E1D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AE8884-2189-7A4F-4F29-CA23FF0345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DFBC61-1BB4-9A9D-F5AB-AA8CBB0A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Contributor: Ali (retrospective template). TEAM must finalize this together in the recorded group retro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138C8-4820-C629-FACA-94EFADD5C2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17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Contributor: Ali (wiki + links).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C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CS691 CAPSTONE  ·  FALL 2026  ·  DELIVERABLE 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18288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Wanderwise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17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Travel Recommender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520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C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traveler, one city, one plan that actually works.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5001768"/>
            <a:ext cx="3840480" cy="0"/>
          </a:xfrm>
          <a:prstGeom prst="line">
            <a:avLst/>
          </a:prstGeom>
          <a:noFill/>
          <a:ln w="19050">
            <a:solidFill>
              <a:srgbClr val="0A6E7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32104" y="4919472"/>
            <a:ext cx="164592" cy="164592"/>
          </a:xfrm>
          <a:prstGeom prst="ellipse">
            <a:avLst/>
          </a:prstGeom>
          <a:solidFill>
            <a:srgbClr val="5CC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52344" y="4919472"/>
            <a:ext cx="164592" cy="164592"/>
          </a:xfrm>
          <a:prstGeom prst="ellipse">
            <a:avLst/>
          </a:prstGeom>
          <a:solidFill>
            <a:srgbClr val="5CC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72584" y="4919472"/>
            <a:ext cx="164592" cy="164592"/>
          </a:xfrm>
          <a:prstGeom prst="ellipse">
            <a:avLst/>
          </a:prstGeom>
          <a:solidFill>
            <a:srgbClr val="5CC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0080" y="5394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4 - Sprint 0: Project Foundation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Sushma · Srija · Ali · Siddhu · Bala · Ram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6550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Roles &amp; Responsibilities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97510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what across the seven-person team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807208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27706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Description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30906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in travel planning, and what we build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922776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0080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4206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design for, and their needs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038344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40080" y="5038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50017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Algorithms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53218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stack, the ML ranker, and the optimizer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1691640"/>
            <a:ext cx="457200" cy="457200"/>
          </a:xfrm>
          <a:prstGeom prst="ellipse">
            <a:avLst/>
          </a:prstGeom>
          <a:solidFill>
            <a:srgbClr val="0A6E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3093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31152" y="16550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Schedule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6931152" y="197510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sprints from foundation to MVP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2807208"/>
            <a:ext cx="457200" cy="457200"/>
          </a:xfrm>
          <a:prstGeom prst="ellipse">
            <a:avLst/>
          </a:prstGeom>
          <a:solidFill>
            <a:srgbClr val="0A6E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30936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931152" y="27706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Working Agreement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6931152" y="30906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meet, collaborate, and stay accountable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09360" y="3922776"/>
            <a:ext cx="457200" cy="457200"/>
          </a:xfrm>
          <a:prstGeom prst="ellipse">
            <a:avLst/>
          </a:prstGeom>
          <a:solidFill>
            <a:srgbClr val="0A6E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6309360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931152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550" dirty="0"/>
          </a:p>
        </p:txBody>
      </p:sp>
      <p:sp>
        <p:nvSpPr>
          <p:cNvPr id="31" name="Text 29"/>
          <p:cNvSpPr txBox="1"/>
          <p:nvPr/>
        </p:nvSpPr>
        <p:spPr>
          <a:xfrm>
            <a:off x="6931152" y="4206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genuinely usable product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309360" y="5038344"/>
            <a:ext cx="457200" cy="457200"/>
          </a:xfrm>
          <a:prstGeom prst="ellipse">
            <a:avLst/>
          </a:prstGeom>
          <a:solidFill>
            <a:srgbClr val="0A6E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6309360" y="5038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6931152" y="50017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&amp; Wiki</a:t>
            </a:r>
            <a:endParaRPr lang="en-US" sz="1550" dirty="0"/>
          </a:p>
        </p:txBody>
      </p:sp>
      <p:sp>
        <p:nvSpPr>
          <p:cNvPr id="35" name="Text 33"/>
          <p:cNvSpPr txBox="1"/>
          <p:nvPr/>
        </p:nvSpPr>
        <p:spPr>
          <a:xfrm>
            <a:off x="6931152" y="53218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 review and project links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Wanderwise  ·  Team F2026-Team4  ·  Sprint 0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24712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Roles &amp; Responsibilities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members, clearly defined ownership.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34540" y="2075688"/>
            <a:ext cx="640080" cy="640080"/>
          </a:xfrm>
          <a:prstGeom prst="ellipse">
            <a:avLst/>
          </a:prstGeom>
          <a:solidFill>
            <a:srgbClr val="0E9AA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2034540" y="20756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889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Sushma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3099816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Preprocessing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50215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and cleans travel, attraction, and place data.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70248" y="187452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756148" y="2075688"/>
            <a:ext cx="640080" cy="640080"/>
          </a:xfrm>
          <a:prstGeom prst="ellipse">
            <a:avLst/>
          </a:prstGeom>
          <a:solidFill>
            <a:srgbClr val="0E9AA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756148" y="20756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361688" y="27889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Srija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379976" y="3099816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407408" y="350215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sprints, meetings, task tracking, and the Agile workflow.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991856" y="187452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083296" y="27889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3A3F"/>
                </a:solidFill>
                <a:latin typeface="Cambria" pitchFamily="34" charset="0"/>
              </a:rPr>
              <a:t>Ali</a:t>
            </a:r>
          </a:p>
        </p:txBody>
      </p:sp>
      <p:sp>
        <p:nvSpPr>
          <p:cNvPr id="21" name="Text 19"/>
          <p:cNvSpPr txBox="1"/>
          <p:nvPr/>
        </p:nvSpPr>
        <p:spPr>
          <a:xfrm>
            <a:off x="8101584" y="3099816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0" b="1" dirty="0">
                <a:solidFill>
                  <a:srgbClr val="0A6E77"/>
                </a:solidFill>
                <a:latin typeface="Calibri" pitchFamily="34" charset="0"/>
                <a:cs typeface="Calibri" pitchFamily="34" charset="-120"/>
              </a:rPr>
              <a:t>Backend &amp; AI</a:t>
            </a:r>
          </a:p>
        </p:txBody>
      </p:sp>
      <p:sp>
        <p:nvSpPr>
          <p:cNvPr id="22" name="Text 20"/>
          <p:cNvSpPr txBox="1"/>
          <p:nvPr/>
        </p:nvSpPr>
        <p:spPr>
          <a:xfrm>
            <a:off x="8129016" y="350215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F84"/>
                </a:solidFill>
                <a:latin typeface="Calibri" pitchFamily="34" charset="0"/>
                <a:cs typeface="Calibri" pitchFamily="34" charset="-120"/>
              </a:rPr>
              <a:t>Backend services, preference extraction, and trip-state management.</a:t>
            </a:r>
          </a:p>
        </p:txBody>
      </p:sp>
      <p:sp>
        <p:nvSpPr>
          <p:cNvPr id="23" name="Shape 21"/>
          <p:cNvSpPr/>
          <p:nvPr/>
        </p:nvSpPr>
        <p:spPr>
          <a:xfrm>
            <a:off x="548640" y="4224528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034540" y="4425696"/>
            <a:ext cx="640080" cy="640080"/>
          </a:xfrm>
          <a:prstGeom prst="ellipse">
            <a:avLst/>
          </a:prstGeom>
          <a:solidFill>
            <a:srgbClr val="0E9AA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2034540" y="44256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1389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Siddhu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5449824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58521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interface and the interactive itinerary experience.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70248" y="4224528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756148" y="4425696"/>
            <a:ext cx="640080" cy="640080"/>
          </a:xfrm>
          <a:prstGeom prst="ellipse">
            <a:avLst/>
          </a:prstGeom>
          <a:solidFill>
            <a:srgbClr val="0E9AA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5756148" y="44256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4361688" y="51389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4379976" y="5449824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Integration, Testing &amp; Evaluation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407408" y="58521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components, tests, and evaluates system performance.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991856" y="4224528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477756" y="4425696"/>
            <a:ext cx="640080" cy="640080"/>
          </a:xfrm>
          <a:prstGeom prst="ellipse">
            <a:avLst/>
          </a:prstGeom>
          <a:solidFill>
            <a:srgbClr val="0E9AA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9477756" y="44256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</a:t>
            </a:r>
            <a:endParaRPr lang="en-US" sz="2200" dirty="0"/>
          </a:p>
        </p:txBody>
      </p:sp>
      <p:sp>
        <p:nvSpPr>
          <p:cNvPr id="38" name="Text 36"/>
          <p:cNvSpPr txBox="1"/>
          <p:nvPr/>
        </p:nvSpPr>
        <p:spPr>
          <a:xfrm>
            <a:off x="8083296" y="51389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Ram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8101584" y="5449824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129016" y="58521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itinerary optimization algorithm and scheduling logic.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Wanderwise  ·  Team F2026-Team4  ·  Sprint 0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124712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7" name="Shape 10">
            <a:extLst>
              <a:ext uri="{FF2B5EF4-FFF2-40B4-BE49-F238E27FC236}">
                <a16:creationId xmlns:a16="http://schemas.microsoft.com/office/drawing/2014/main" id="{C0F7CF7F-F190-6FE5-27B9-CF7A9150B4A0}"/>
              </a:ext>
            </a:extLst>
          </p:cNvPr>
          <p:cNvSpPr/>
          <p:nvPr/>
        </p:nvSpPr>
        <p:spPr>
          <a:xfrm>
            <a:off x="9477756" y="2107395"/>
            <a:ext cx="640080" cy="640080"/>
          </a:xfrm>
          <a:prstGeom prst="ellipse">
            <a:avLst/>
          </a:prstGeom>
          <a:solidFill>
            <a:srgbClr val="0E9AA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9477756" y="2084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algn="ctr">
              <a:buNone/>
              <a:defRPr sz="2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r>
              <a:rPr lang="en-US" dirty="0"/>
              <a:t>AG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places is not building a trip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tools help you find good places, but the traveler still has to make them fit together.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3063240"/>
          </a:xfrm>
          <a:prstGeom prst="roundRect">
            <a:avLst>
              <a:gd name="adj" fmla="val 2687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discovery platforms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786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Yelp, TripAdvisor, blogs, Reddit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26080"/>
            <a:ext cx="4800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F454A"/>
                </a:solidFill>
              </a:rPr>
              <a:t>Great at surfacing restaurants, attractions, and reviews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F454A"/>
                </a:solidFill>
              </a:rPr>
              <a:t>Leave distance, opening hours, cost, and energy to you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F454A"/>
                </a:solidFill>
              </a:rPr>
              <a:t>You still assemble the day yourself, and backtrack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480560"/>
            <a:ext cx="4800600" cy="365760"/>
          </a:xfrm>
          <a:prstGeom prst="roundRect">
            <a:avLst>
              <a:gd name="adj" fmla="val 22500"/>
            </a:avLst>
          </a:prstGeom>
          <a:solidFill>
            <a:srgbClr val="E4EE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96012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a list of individual places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1965960"/>
            <a:ext cx="5349240" cy="3063240"/>
          </a:xfrm>
          <a:prstGeom prst="roundRect">
            <a:avLst>
              <a:gd name="adj" fmla="val 2687"/>
            </a:avLst>
          </a:prstGeom>
          <a:solidFill>
            <a:srgbClr val="0E3A3F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583680" y="2194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personalized planner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5786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feasible itinerary for one traveler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926080"/>
            <a:ext cx="4800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DEAEA"/>
                </a:solidFill>
              </a:rPr>
              <a:t>Uses interests, dates, budget, start point, walking tolerance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DEAEA"/>
                </a:solidFill>
              </a:rPr>
              <a:t>Chooses a set of places that actually works together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DEAEA"/>
                </a:solidFill>
              </a:rPr>
              <a:t>Respects distance, hours, cost, time, and effort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0" y="4480560"/>
            <a:ext cx="4800600" cy="365760"/>
          </a:xfrm>
          <a:prstGeom prst="roundRect">
            <a:avLst>
              <a:gd name="adj" fmla="val 22500"/>
            </a:avLst>
          </a:prstGeom>
          <a:solidFill>
            <a:srgbClr val="1249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72084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C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a feasible plan for one person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257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 </a:t>
            </a:r>
            <a:r>
              <a:rPr lang="en-US" sz="1500" dirty="0">
                <a:solidFill>
                  <a:srgbClr val="2F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travelers in the same city should receive visibly different itineraries, not the same “top-10” list.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Wanderwise  ·  Team F2026-Team4  ·  Sprint 0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4712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an LLM alone isn't enough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3657600"/>
          </a:xfrm>
          <a:prstGeom prst="roundRect">
            <a:avLst>
              <a:gd name="adj" fmla="val 2250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language model does well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40280"/>
            <a:ext cx="4800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F454A"/>
                </a:solidFill>
              </a:rPr>
              <a:t>Understands requests in plain language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F454A"/>
                </a:solidFill>
              </a:rPr>
              <a:t>Extracts preferences into structured constraints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F454A"/>
                </a:solidFill>
              </a:rPr>
              <a:t>Explains why a place was chosen or a trade-off made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F454A"/>
                </a:solidFill>
              </a:rPr>
              <a:t>Interprets edits: “move the museum to Thursday”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349240" cy="3657600"/>
          </a:xfrm>
          <a:prstGeom prst="roundRect">
            <a:avLst>
              <a:gd name="adj" fmla="val 2250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583680" y="1783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6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cannot guarantee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240280"/>
            <a:ext cx="4800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F454A"/>
                </a:solidFill>
              </a:rPr>
              <a:t>Current opening hours or temporary closures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F454A"/>
                </a:solidFill>
              </a:rPr>
              <a:t>Live prices, transit disruptions, or availability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F454A"/>
                </a:solidFill>
              </a:rPr>
              <a:t>That the information is factual, not hallucinated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F454A"/>
                </a:solidFill>
              </a:rPr>
              <a:t>That the full day respects every time &amp; cost constraint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5440680"/>
            <a:ext cx="11109960" cy="640080"/>
          </a:xfrm>
          <a:prstGeom prst="roundRect">
            <a:avLst>
              <a:gd name="adj" fmla="val 11429"/>
            </a:avLst>
          </a:prstGeom>
          <a:solidFill>
            <a:srgbClr val="0E3A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31520" y="54406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= language interface</a:t>
            </a:r>
            <a:r>
              <a:rPr lang="en-US" sz="1500" dirty="0">
                <a:solidFill>
                  <a:srgbClr val="8F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·    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data + optimizer = source of truth for the itinerary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Wanderwise  ·  Team F2026-Team4  ·  Sprint 0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24712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BUILDING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project is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F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app that turns a destination and a person's tastes into a realistic, day-by-day itinerary the traveler can reshape in plain language. Three parts do three different jobs: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542032"/>
            <a:ext cx="146304" cy="146304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078992" y="24505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Trained model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0779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F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learning-to-rank model we train scores places for this specific traveler. The heart of the project.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88536" y="228600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62856" y="2542032"/>
            <a:ext cx="146304" cy="146304"/>
          </a:xfrm>
          <a:prstGeom prst="ellipse">
            <a:avLst/>
          </a:prstGeom>
          <a:solidFill>
            <a:srgbClr val="0A6E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818888" y="24505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Optimizer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62856" y="290779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F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code packs the top picks into a schedule that respects hours, travel, budget, and pace.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28432" y="228600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02752" y="2542032"/>
            <a:ext cx="146304" cy="146304"/>
          </a:xfrm>
          <a:prstGeom prst="ellipse">
            <a:avLst/>
          </a:prstGeom>
          <a:solidFill>
            <a:srgbClr val="E08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558784" y="24505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model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302752" y="290779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F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turns free text into preferences and writes the “why we picked this” explanations.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1938528" cy="566928"/>
          </a:xfrm>
          <a:prstGeom prst="roundRect">
            <a:avLst>
              <a:gd name="adj" fmla="val 16129"/>
            </a:avLst>
          </a:prstGeom>
          <a:solidFill>
            <a:srgbClr val="0E3A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48640" y="4709160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487168" y="4709160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871216" y="4709160"/>
            <a:ext cx="1938528" cy="566928"/>
          </a:xfrm>
          <a:prstGeom prst="roundRect">
            <a:avLst>
              <a:gd name="adj" fmla="val 16129"/>
            </a:avLst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2871216" y="4709160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(ML)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809744" y="4709160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193792" y="4709160"/>
            <a:ext cx="1938528" cy="566928"/>
          </a:xfrm>
          <a:prstGeom prst="roundRect">
            <a:avLst>
              <a:gd name="adj" fmla="val 16129"/>
            </a:avLst>
          </a:prstGeom>
          <a:solidFill>
            <a:srgbClr val="0E3A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5193792" y="4709160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0" y="4709160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516368" y="4709160"/>
            <a:ext cx="1938528" cy="566928"/>
          </a:xfrm>
          <a:prstGeom prst="roundRect">
            <a:avLst>
              <a:gd name="adj" fmla="val 16129"/>
            </a:avLst>
          </a:prstGeom>
          <a:solidFill>
            <a:srgbClr val="0E3A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7516368" y="4709160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Itinerary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454896" y="4709160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838944" y="4709160"/>
            <a:ext cx="1938528" cy="566928"/>
          </a:xfrm>
          <a:prstGeom prst="roundRect">
            <a:avLst>
              <a:gd name="adj" fmla="val 16129"/>
            </a:avLst>
          </a:prstGeom>
          <a:solidFill>
            <a:srgbClr val="0E3A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9838944" y="4709160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&amp; re-plan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means two travelers in the same city get different plans, not the same top-10 list.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Wanderwise  ·  Team F2026-Team4  ·  Sprint 0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24712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Budget-Conscious Student Traveler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383280" cy="4617720"/>
          </a:xfrm>
          <a:prstGeom prst="roundRect">
            <a:avLst>
              <a:gd name="adj" fmla="val 2432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71500" y="36073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Arjun Mehta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37673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Budget-Conscious Student Traveler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20624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E3A3F"/>
                </a:solidFill>
              </a:rPr>
              <a:t>Age:  </a:t>
            </a:r>
            <a:r>
              <a:rPr lang="en-US" sz="1150" dirty="0">
                <a:solidFill>
                  <a:srgbClr val="2F454A"/>
                </a:solidFill>
              </a:rPr>
              <a:t>24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E3A3F"/>
                </a:solidFill>
              </a:rPr>
              <a:t>Education:  </a:t>
            </a:r>
            <a:r>
              <a:rPr lang="en-US" sz="1150" dirty="0">
                <a:solidFill>
                  <a:srgbClr val="2F454A"/>
                </a:solidFill>
              </a:rPr>
              <a:t>MSc Computer Science (in progress)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E3A3F"/>
                </a:solidFill>
              </a:rPr>
              <a:t>Hometown:  </a:t>
            </a:r>
            <a:r>
              <a:rPr lang="en-US" sz="1150" dirty="0">
                <a:solidFill>
                  <a:srgbClr val="2F454A"/>
                </a:solidFill>
              </a:rPr>
              <a:t>Pune, India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E3A3F"/>
                </a:solidFill>
              </a:rPr>
              <a:t>Family:  </a:t>
            </a:r>
            <a:r>
              <a:rPr lang="en-US" sz="1150" dirty="0">
                <a:solidFill>
                  <a:srgbClr val="2F454A"/>
                </a:solidFill>
              </a:rPr>
              <a:t>Single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E3A3F"/>
                </a:solidFill>
              </a:rPr>
              <a:t>Occupation:  </a:t>
            </a:r>
            <a:r>
              <a:rPr lang="en-US" sz="1150" dirty="0">
                <a:solidFill>
                  <a:srgbClr val="2F454A"/>
                </a:solidFill>
              </a:rPr>
              <a:t>Grad student &amp; part-time TA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160520" y="141732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want to explore the city without exceeding my budget or wasting time between places.”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60520" y="2331720"/>
            <a:ext cx="3657600" cy="1874520"/>
          </a:xfrm>
          <a:prstGeom prst="roundRect">
            <a:avLst>
              <a:gd name="adj" fmla="val 4390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38912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2852928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F454A"/>
                </a:solidFill>
              </a:rPr>
              <a:t>Stay within a fixed trip budget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F454A"/>
                </a:solidFill>
              </a:rPr>
              <a:t>Still see the important attractions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F454A"/>
                </a:solidFill>
              </a:rPr>
              <a:t>Cut travel time between stops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01000" y="2331720"/>
            <a:ext cx="3657600" cy="1874520"/>
          </a:xfrm>
          <a:prstGeom prst="roundRect">
            <a:avLst>
              <a:gd name="adj" fmla="val 4390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22960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852928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F454A"/>
                </a:solidFill>
              </a:rPr>
              <a:t>Generic plans suggest costly activities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F454A"/>
                </a:solidFill>
              </a:rPr>
              <a:t>Recommended places are far apart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F454A"/>
                </a:solidFill>
              </a:rPr>
              <a:t>Prices and hours are often outdated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160520" y="4370832"/>
            <a:ext cx="7498080" cy="457200"/>
          </a:xfrm>
          <a:prstGeom prst="roundRect">
            <a:avLst>
              <a:gd name="adj" fmla="val 16000"/>
            </a:avLst>
          </a:prstGeom>
          <a:solidFill>
            <a:srgbClr val="E4EE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343400" y="437083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our app must provide:   </a:t>
            </a:r>
            <a:r>
              <a:rPr lang="en-US" sz="1200" dirty="0">
                <a:solidFill>
                  <a:srgbClr val="2F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Budget-aware ranking  ·  Verified hours &amp; costs  ·  Walking limit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60520" y="4983480"/>
            <a:ext cx="7498080" cy="1051560"/>
          </a:xfrm>
          <a:prstGeom prst="roundRect">
            <a:avLst>
              <a:gd name="adj" fmla="val 7826"/>
            </a:avLst>
          </a:prstGeom>
          <a:solidFill>
            <a:srgbClr val="F6FAF9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389120" y="5074920"/>
            <a:ext cx="7086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F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travels between semesters on a tight budget. He researches for hours across blogs and maps but still ends up backtracking and overspending. He wants a plan that respects his budget and keeps each day efficient, so he sees more with less stress.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Wanderwise  ·  Team F2026-Team4  ·  Sprint 0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4712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03F9354-A269-BD25-3CD9-3F3A53BF5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078" y="1422957"/>
            <a:ext cx="1455524" cy="21832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 Planning a Family Vacation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383280" cy="4617720"/>
          </a:xfrm>
          <a:prstGeom prst="roundRect">
            <a:avLst>
              <a:gd name="adj" fmla="val 2432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94360" y="3612021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Sarah Johnson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719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Planning a Family Vacation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54380" y="4244006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E3A3F"/>
                </a:solidFill>
              </a:rPr>
              <a:t>Age:  </a:t>
            </a:r>
            <a:r>
              <a:rPr lang="en-US" sz="1150" dirty="0">
                <a:solidFill>
                  <a:srgbClr val="2F454A"/>
                </a:solidFill>
              </a:rPr>
              <a:t>38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E3A3F"/>
                </a:solidFill>
              </a:rPr>
              <a:t>Education:  </a:t>
            </a:r>
            <a:r>
              <a:rPr lang="en-US" sz="1150" dirty="0">
                <a:solidFill>
                  <a:srgbClr val="2F454A"/>
                </a:solidFill>
              </a:rPr>
              <a:t>BBA, Marketing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E3A3F"/>
                </a:solidFill>
              </a:rPr>
              <a:t>Hometown:  </a:t>
            </a:r>
            <a:r>
              <a:rPr lang="en-US" sz="1150" dirty="0">
                <a:solidFill>
                  <a:srgbClr val="2F454A"/>
                </a:solidFill>
              </a:rPr>
              <a:t>Chicago, USA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E3A3F"/>
                </a:solidFill>
              </a:rPr>
              <a:t>Family:  </a:t>
            </a:r>
            <a:r>
              <a:rPr lang="en-US" sz="1150" dirty="0">
                <a:solidFill>
                  <a:srgbClr val="2F454A"/>
                </a:solidFill>
              </a:rPr>
              <a:t>Married, two kids (7 &amp; 10)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E3A3F"/>
                </a:solidFill>
              </a:rPr>
              <a:t>Occupation:  </a:t>
            </a:r>
            <a:r>
              <a:rPr lang="en-US" sz="1150" dirty="0">
                <a:solidFill>
                  <a:srgbClr val="2F454A"/>
                </a:solidFill>
              </a:rPr>
              <a:t>Marketing manager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160520" y="141732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want my family to enjoy the trip without rushing, walking too much, or missing breaks.”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60520" y="2331720"/>
            <a:ext cx="3657600" cy="1874520"/>
          </a:xfrm>
          <a:prstGeom prst="roundRect">
            <a:avLst>
              <a:gd name="adj" fmla="val 4390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38912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2852928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F454A"/>
                </a:solidFill>
              </a:rPr>
              <a:t>Find activities for kids and adults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F454A"/>
                </a:solidFill>
              </a:rPr>
              <a:t>Keep each day comfortable and flexible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F454A"/>
                </a:solidFill>
              </a:rPr>
              <a:t>Reduce travel between attractions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01000" y="2331720"/>
            <a:ext cx="3657600" cy="1874520"/>
          </a:xfrm>
          <a:prstGeom prst="roundRect">
            <a:avLst>
              <a:gd name="adj" fmla="val 4390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22960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852928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F454A"/>
                </a:solidFill>
              </a:rPr>
              <a:t>Generic plans pack in too many activities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F454A"/>
                </a:solidFill>
              </a:rPr>
              <a:t>Kids get tired on long walks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F454A"/>
                </a:solidFill>
              </a:rPr>
              <a:t>One delay derails the whole day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160520" y="4370832"/>
            <a:ext cx="7498080" cy="457200"/>
          </a:xfrm>
          <a:prstGeom prst="roundRect">
            <a:avLst>
              <a:gd name="adj" fmla="val 16000"/>
            </a:avLst>
          </a:prstGeom>
          <a:solidFill>
            <a:srgbClr val="E4EE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343400" y="437083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our app must provide:   </a:t>
            </a:r>
            <a:r>
              <a:rPr lang="en-US" sz="1200" dirty="0">
                <a:solidFill>
                  <a:srgbClr val="2F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Family-friendly filters  ·  Meal &amp; rest breaks  ·  Easy re-planning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60520" y="4983480"/>
            <a:ext cx="7498080" cy="1051560"/>
          </a:xfrm>
          <a:prstGeom prst="roundRect">
            <a:avLst>
              <a:gd name="adj" fmla="val 7826"/>
            </a:avLst>
          </a:prstGeom>
          <a:solidFill>
            <a:srgbClr val="F6FAF9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389120" y="5074920"/>
            <a:ext cx="7086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F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plans the family's one big trip each year, juggling two kids with different energy levels and a partner who hates rushing. She needs a realistic, flexible plan with built-in breaks that she can adjust on the fly when the day runs late.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Wanderwise  ·  Team F2026-Team4  ·  Sprint 0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4712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DE7844E-C832-12B8-38D7-442CB2201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332" y="1424178"/>
            <a:ext cx="1453896" cy="21808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Traveler with Limited Mobility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383280" cy="4617720"/>
          </a:xfrm>
          <a:prstGeom prst="roundRect">
            <a:avLst>
              <a:gd name="adj" fmla="val 2432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94360" y="36027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Michael Thompson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6275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Traveler with Limited Mobility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54380" y="4133088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E3A3F"/>
                </a:solidFill>
              </a:rPr>
              <a:t>Age:  </a:t>
            </a:r>
            <a:r>
              <a:rPr lang="en-US" sz="1150" dirty="0">
                <a:solidFill>
                  <a:srgbClr val="2F454A"/>
                </a:solidFill>
              </a:rPr>
              <a:t>63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E3A3F"/>
                </a:solidFill>
              </a:rPr>
              <a:t>Education:  </a:t>
            </a:r>
            <a:r>
              <a:rPr lang="en-US" sz="1150" dirty="0">
                <a:solidFill>
                  <a:srgbClr val="2F454A"/>
                </a:solidFill>
              </a:rPr>
              <a:t>B.Ed, History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E3A3F"/>
                </a:solidFill>
              </a:rPr>
              <a:t>Hometown:  </a:t>
            </a:r>
            <a:r>
              <a:rPr lang="en-US" sz="1150" dirty="0">
                <a:solidFill>
                  <a:srgbClr val="2F454A"/>
                </a:solidFill>
              </a:rPr>
              <a:t>Manchester, UK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E3A3F"/>
                </a:solidFill>
              </a:rPr>
              <a:t>Family:  </a:t>
            </a:r>
            <a:r>
              <a:rPr lang="en-US" sz="1150" dirty="0">
                <a:solidFill>
                  <a:srgbClr val="2F454A"/>
                </a:solidFill>
              </a:rPr>
              <a:t>Married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E3A3F"/>
                </a:solidFill>
              </a:rPr>
              <a:t>Occupation:  </a:t>
            </a:r>
            <a:r>
              <a:rPr lang="en-US" sz="1150" dirty="0">
                <a:solidFill>
                  <a:srgbClr val="2F454A"/>
                </a:solidFill>
              </a:rPr>
              <a:t>Retired secondary-school teacher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160520" y="141732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need to know my itinerary is physically manageable before I begin the trip.”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60520" y="2331720"/>
            <a:ext cx="3657600" cy="1874520"/>
          </a:xfrm>
          <a:prstGeom prst="roundRect">
            <a:avLst>
              <a:gd name="adj" fmla="val 4390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38912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2852928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F454A"/>
                </a:solidFill>
              </a:rPr>
              <a:t>Visit historical &amp; cultural sites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F454A"/>
                </a:solidFill>
              </a:rPr>
              <a:t>Avoid long walks and rushed days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F454A"/>
                </a:solidFill>
              </a:rPr>
              <a:t>Get dependable accessibility details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01000" y="2331720"/>
            <a:ext cx="3657600" cy="1874520"/>
          </a:xfrm>
          <a:prstGeom prst="roundRect">
            <a:avLst>
              <a:gd name="adj" fmla="val 4390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22960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852928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F454A"/>
                </a:solidFill>
              </a:rPr>
              <a:t>Generic plans assume long walking ability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F454A"/>
                </a:solidFill>
              </a:rPr>
              <a:t>Accessibility information is often missing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F454A"/>
                </a:solidFill>
              </a:rPr>
              <a:t>Crowded schedules cause exhaustion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160520" y="4370832"/>
            <a:ext cx="7498080" cy="457200"/>
          </a:xfrm>
          <a:prstGeom prst="roundRect">
            <a:avLst>
              <a:gd name="adj" fmla="val 16000"/>
            </a:avLst>
          </a:prstGeom>
          <a:solidFill>
            <a:srgbClr val="E4EE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343400" y="437083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our app must provide:   </a:t>
            </a:r>
            <a:r>
              <a:rPr lang="en-US" sz="1200" dirty="0">
                <a:solidFill>
                  <a:srgbClr val="2F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filters  ·  Shorter routes &amp; rest time  ·  Confidence warnings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60520" y="4983480"/>
            <a:ext cx="7498080" cy="1051560"/>
          </a:xfrm>
          <a:prstGeom prst="roundRect">
            <a:avLst>
              <a:gd name="adj" fmla="val 7826"/>
            </a:avLst>
          </a:prstGeom>
          <a:solidFill>
            <a:srgbClr val="F6FAF9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389120" y="5074920"/>
            <a:ext cx="7086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F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loves history and museums, but a knee condition limits how far he can walk in a day. He avoids booking trips because he can't tell in advance whether a plan will be manageable. He needs walking limits respected and honest warnings when accessibility data is uncertain.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Wanderwise  ·  Team F2026-Team4  ·  Sprint 0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4712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413C2AF-3B25-9A20-E6F7-3B9616A1A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808" y="1417320"/>
            <a:ext cx="1456944" cy="21854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11880" cy="2011680"/>
          </a:xfrm>
          <a:prstGeom prst="roundRect">
            <a:avLst>
              <a:gd name="adj" fmla="val 4091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04672" y="20116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6E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2395728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F454A"/>
                </a:solidFill>
              </a:rPr>
              <a:t>Python 3.11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F454A"/>
                </a:solidFill>
              </a:rPr>
              <a:t>TypeScript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88536" y="1828800"/>
            <a:ext cx="3611880" cy="2011680"/>
          </a:xfrm>
          <a:prstGeom prst="roundRect">
            <a:avLst>
              <a:gd name="adj" fmla="val 4091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544568" y="20116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6E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&amp; API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90288" y="2395728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F454A"/>
                </a:solidFill>
              </a:rPr>
              <a:t>FastAPI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F454A"/>
                </a:solidFill>
              </a:rPr>
              <a:t>uvicorn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F454A"/>
                </a:solidFill>
              </a:rPr>
              <a:t>Pydantic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28432" y="1828800"/>
            <a:ext cx="3611880" cy="2011680"/>
          </a:xfrm>
          <a:prstGeom prst="roundRect">
            <a:avLst>
              <a:gd name="adj" fmla="val 4091"/>
            </a:avLst>
          </a:prstGeom>
          <a:solidFill>
            <a:srgbClr val="0E3A3F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284464" y="20116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CC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&amp; Data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330184" y="2395728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4EEEE"/>
                </a:solidFill>
              </a:rPr>
              <a:t>LightGBM  (learning-to-rank)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4EEEE"/>
                </a:solidFill>
              </a:rPr>
              <a:t>NumPy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4EEEE"/>
                </a:solidFill>
              </a:rPr>
              <a:t>OpenStreetMap / Overpass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41648"/>
            <a:ext cx="3611880" cy="2011680"/>
          </a:xfrm>
          <a:prstGeom prst="roundRect">
            <a:avLst>
              <a:gd name="adj" fmla="val 4091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04672" y="42245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6E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50392" y="4608576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F454A"/>
                </a:solidFill>
              </a:rPr>
              <a:t>React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F454A"/>
                </a:solidFill>
              </a:rPr>
              <a:t>Vite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288536" y="4041648"/>
            <a:ext cx="3611880" cy="2011680"/>
          </a:xfrm>
          <a:prstGeom prst="roundRect">
            <a:avLst>
              <a:gd name="adj" fmla="val 4091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544568" y="42245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6E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90288" y="4608576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F454A"/>
                </a:solidFill>
              </a:rPr>
              <a:t>Ollama  (local model)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28432" y="4041648"/>
            <a:ext cx="3611880" cy="2011680"/>
          </a:xfrm>
          <a:prstGeom prst="roundRect">
            <a:avLst>
              <a:gd name="adj" fmla="val 4091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8284464" y="42245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6E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Dev, CI &amp; Testing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330184" y="4608576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F454A"/>
                </a:solidFill>
              </a:rPr>
              <a:t>GitHub + Actions (CI)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F454A"/>
                </a:solidFill>
              </a:rPr>
              <a:t>uv  ·  make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F454A"/>
                </a:solidFill>
              </a:rPr>
              <a:t>pytest  ·  vitest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F454A"/>
                </a:solidFill>
              </a:rPr>
              <a:t>SQLite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Wanderwise  ·  Team F2026-Team4  ·  Sprint 0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1417320"/>
          </a:xfrm>
          <a:prstGeom prst="roundRect">
            <a:avLst>
              <a:gd name="adj" fmla="val 5806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847088"/>
            <a:ext cx="128016" cy="128016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60704" y="1737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Learning-to-Rank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2140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/ </a:t>
            </a:r>
            <a:r>
              <a:rPr lang="en-US" sz="1200" dirty="0" err="1">
                <a:solidFill>
                  <a:srgbClr val="2F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LambdaRank</a:t>
            </a:r>
            <a:r>
              <a:rPr lang="en-US" sz="1200" dirty="0">
                <a:solidFill>
                  <a:srgbClr val="2F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gradient-boosted-tree model we TRAIN to score how well each place fits a traveler.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486400" cy="1417320"/>
          </a:xfrm>
          <a:prstGeom prst="roundRect">
            <a:avLst>
              <a:gd name="adj" fmla="val 5806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46520" y="1847088"/>
            <a:ext cx="128016" cy="128016"/>
          </a:xfrm>
          <a:prstGeom prst="ellipse">
            <a:avLst/>
          </a:prstGeom>
          <a:solidFill>
            <a:srgbClr val="0A6E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684264" y="1737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Itinerary Optimization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12140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insertion evolving toward a TOPTW scheduler: packs top-ranked places under time, hours, budget &amp; walking limits.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36392"/>
            <a:ext cx="5486400" cy="1417320"/>
          </a:xfrm>
          <a:prstGeom prst="roundRect">
            <a:avLst>
              <a:gd name="adj" fmla="val 5806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" y="3429000"/>
            <a:ext cx="128016" cy="128016"/>
          </a:xfrm>
          <a:prstGeom prst="ellipse">
            <a:avLst/>
          </a:prstGeom>
          <a:solidFill>
            <a:srgbClr val="E08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060704" y="33192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Evaluation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7033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NDCG@k and Precision@k, compared against popularity, a hand-coded scorer, and an LLM-only baseline.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3136392"/>
            <a:ext cx="5486400" cy="1417320"/>
          </a:xfrm>
          <a:prstGeom prst="roundRect">
            <a:avLst>
              <a:gd name="adj" fmla="val 5806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46520" y="3429000"/>
            <a:ext cx="128016" cy="12801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684264" y="33192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Distance &amp; Routing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7033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estimate as a fast baseline, validated against real OSRM walking times.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718304"/>
            <a:ext cx="5486400" cy="1417320"/>
          </a:xfrm>
          <a:prstGeom prst="roundRect">
            <a:avLst>
              <a:gd name="adj" fmla="val 5806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22960" y="5010912"/>
            <a:ext cx="128016" cy="128016"/>
          </a:xfrm>
          <a:prstGeom prst="ellipse">
            <a:avLst/>
          </a:prstGeom>
          <a:solidFill>
            <a:srgbClr val="C26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1060704" y="490118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Preference Extraction (NLP)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285232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parses free text into a structured, schema-validated traveler profile.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Wanderwise  ·  Team F2026-Team4  ·  Sprint 0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4712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Schedule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sprints from foundation to a functional MVP.  Team meets weekly (in class + online), with async coordination on WhatsApp.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724912" cy="3931920"/>
          </a:xfrm>
          <a:prstGeom prst="roundRect">
            <a:avLst>
              <a:gd name="adj" fmla="val 3020"/>
            </a:avLst>
          </a:prstGeom>
          <a:solidFill>
            <a:srgbClr val="0E3A3F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724912" cy="777240"/>
          </a:xfrm>
          <a:prstGeom prst="roundRect">
            <a:avLst>
              <a:gd name="adj" fmla="val 10588"/>
            </a:avLst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1975104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0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31720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 – Sep 21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880360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Foundation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611880"/>
            <a:ext cx="22677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personas, MVP definition, schedule, working agreement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83280" y="1920240"/>
            <a:ext cx="2724912" cy="3931920"/>
          </a:xfrm>
          <a:prstGeom prst="roundRect">
            <a:avLst>
              <a:gd name="adj" fmla="val 3020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83280" y="1920240"/>
            <a:ext cx="2724912" cy="777240"/>
          </a:xfrm>
          <a:prstGeom prst="roundRect">
            <a:avLst>
              <a:gd name="adj" fmla="val 10588"/>
            </a:avLst>
          </a:prstGeom>
          <a:solidFill>
            <a:srgbClr val="0A6E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383280" y="1975104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1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2331720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21 – Oct 19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2880360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&amp; First Functionality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3611880"/>
            <a:ext cx="22677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F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&amp; acceptance criteria, test cases, backlog, first working app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1920240"/>
            <a:ext cx="2724912" cy="3931920"/>
          </a:xfrm>
          <a:prstGeom prst="roundRect">
            <a:avLst>
              <a:gd name="adj" fmla="val 3020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17920" y="1920240"/>
            <a:ext cx="2724912" cy="777240"/>
          </a:xfrm>
          <a:prstGeom prst="roundRect">
            <a:avLst>
              <a:gd name="adj" fmla="val 10588"/>
            </a:avLst>
          </a:prstGeom>
          <a:solidFill>
            <a:srgbClr val="0A6E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217920" y="1975104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2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2331720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19 – Nov 16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2880360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Deep-Dive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3611880"/>
            <a:ext cx="22677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F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draft technical paper, trained model on real data, more features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052560" y="1920240"/>
            <a:ext cx="2724912" cy="3931920"/>
          </a:xfrm>
          <a:prstGeom prst="roundRect">
            <a:avLst>
              <a:gd name="adj" fmla="val 3020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052560" y="1920240"/>
            <a:ext cx="2724912" cy="777240"/>
          </a:xfrm>
          <a:prstGeom prst="roundRect">
            <a:avLst>
              <a:gd name="adj" fmla="val 10588"/>
            </a:avLst>
          </a:prstGeom>
          <a:solidFill>
            <a:srgbClr val="0A6E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9052560" y="1975104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3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052560" y="2331720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16 – Dec 14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235440" y="2880360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MVP &amp; Finalization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281160" y="3611880"/>
            <a:ext cx="22677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F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MVP, final paper, deployment &amp; user manuals, demo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sprint ends with a working deliverable, a recorded review, a retrospective, and an updated wiki.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Wanderwise  ·  Team F2026-Team4  ·  Sprint 0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24712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 Viable Product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product a traveler can actually use end-to-end: One city, real data, a real plan.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675120" cy="3749040"/>
          </a:xfrm>
          <a:prstGeom prst="roundRect">
            <a:avLst>
              <a:gd name="adj" fmla="val 2195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08483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MVP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68880"/>
            <a:ext cx="62179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F454A"/>
                </a:solidFill>
              </a:rPr>
              <a:t>Enter destination, dates, interests, budget, pace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F454A"/>
                </a:solidFill>
              </a:rPr>
              <a:t>Preferences turned into a structured traveler profile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F454A"/>
                </a:solidFill>
              </a:rPr>
              <a:t>Candidate places retrieved for the city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F454A"/>
                </a:solidFill>
              </a:rPr>
              <a:t>A TRAINED model ranks places for that traveler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F454A"/>
                </a:solidFill>
              </a:rPr>
              <a:t>Optimizer builds a feasible day-by-day itinerary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F454A"/>
                </a:solidFill>
              </a:rPr>
              <a:t>Itinerary shown with times, cost, and reasons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F454A"/>
                </a:solidFill>
              </a:rPr>
              <a:t>Feedback adjusts the recommendations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06640" y="1874520"/>
            <a:ext cx="4251960" cy="3749040"/>
          </a:xfrm>
          <a:prstGeom prst="roundRect">
            <a:avLst>
              <a:gd name="adj" fmla="val 2195"/>
            </a:avLst>
          </a:prstGeom>
          <a:solidFill>
            <a:srgbClr val="0E3A3F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680960" y="20848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8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in the MVP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726680" y="2468880"/>
            <a:ext cx="3749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CEAEA"/>
                </a:solidFill>
              </a:rPr>
              <a:t>Login / accounts / password recovery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CEAEA"/>
                </a:solidFill>
              </a:rPr>
              <a:t>Booking or payments (we recommend, not transact)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CEAEA"/>
                </a:solidFill>
              </a:rPr>
              <a:t>Multi-city trips in one itinerary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CEAEA"/>
                </a:solidFill>
              </a:rPr>
              <a:t>Native mobile apps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Wanderwise  ·  Team F2026-Team4  ·  Sprint 0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24712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Working Agreement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4672" y="1929384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04672" y="1929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556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10312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for day-to-day updates, questions, and coordination.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28232" y="1929384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28232" y="1929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7556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Meetings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10312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for sprint planning, progress, and problem-solving.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4672" y="3392424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04672" y="33924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2186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In-Person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56616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Face-to-face when we need hands-on group work.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017520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28232" y="3392424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428232" y="33924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32186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356616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→ PR → review → merge; everyone contributes.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480560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04672" y="4855464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804672" y="48554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508760" y="46817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Accountability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502920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your tasks; commit work ≈ 48h early, not an hour before.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72200" y="4480560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28232" y="4855464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428232" y="48554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0" y="46817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Collaboration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502920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each other on integration and testing; we remind, no offense taken.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Wanderwise  ·  Team F2026-Team4  ·  Sprint 0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4712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3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C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 RETROSPECTIVE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Retrospective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3840480"/>
          </a:xfrm>
          <a:prstGeom prst="roundRect">
            <a:avLst>
              <a:gd name="adj" fmla="val 2278"/>
            </a:avLst>
          </a:prstGeom>
          <a:solidFill>
            <a:srgbClr val="1249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04672" y="18288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went well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50392" y="2377440"/>
            <a:ext cx="30632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6F0F0"/>
                </a:solidFill>
              </a:rPr>
              <a:t>Team formed and roles agreed quickly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6F0F0"/>
                </a:solidFill>
              </a:rPr>
              <a:t>Repo, CI, and a working skeleton are up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6F0F0"/>
                </a:solidFill>
              </a:rPr>
              <a:t>Clear, shared understanding of the design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88536" y="1600200"/>
            <a:ext cx="3611880" cy="3840480"/>
          </a:xfrm>
          <a:prstGeom prst="roundRect">
            <a:avLst>
              <a:gd name="adj" fmla="val 2278"/>
            </a:avLst>
          </a:prstGeom>
          <a:solidFill>
            <a:srgbClr val="1249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544568" y="18288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8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improve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90288" y="2377440"/>
            <a:ext cx="30632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6F0F0"/>
                </a:solidFill>
              </a:rPr>
              <a:t>Even out early workload across all six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6F0F0"/>
                </a:solidFill>
              </a:rPr>
              <a:t>Lock deliverables earlier, not near deadline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6F0F0"/>
                </a:solidFill>
              </a:rPr>
              <a:t>Tighten our commit / PR review rhythm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28432" y="1600200"/>
            <a:ext cx="3611880" cy="3840480"/>
          </a:xfrm>
          <a:prstGeom prst="roundRect">
            <a:avLst>
              <a:gd name="adj" fmla="val 2278"/>
            </a:avLst>
          </a:prstGeom>
          <a:solidFill>
            <a:srgbClr val="1249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284464" y="18288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C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items for Sprint 1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330184" y="2377440"/>
            <a:ext cx="30632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6F0F0"/>
                </a:solidFill>
              </a:rPr>
              <a:t>Add “definition of done” to every story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6F0F0"/>
                </a:solidFill>
              </a:rPr>
              <a:t>Set a mid-sprint check-in each week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F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as a group. The two action items become tasks in the Sprint 1 backlog.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Wanderwise  ·  Team F2026-Team4  ·  Sprint 0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4712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A3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D23D9E-9209-00D9-9576-091FEC8FC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A32AE05-0A75-ACBC-F367-AC282A02CB6A}"/>
              </a:ext>
            </a:extLst>
          </p:cNvPr>
          <p:cNvSpPr txBox="1"/>
          <p:nvPr/>
        </p:nvSpPr>
        <p:spPr>
          <a:xfrm>
            <a:off x="548640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CC9C9"/>
                </a:solidFill>
                <a:latin typeface="Calibri" pitchFamily="34" charset="0"/>
                <a:cs typeface="Calibri" pitchFamily="34" charset="-120"/>
              </a:rPr>
              <a:t>AI USAGE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2F51FF6-D7D9-1935-0B59-32D20FC168E8}"/>
              </a:ext>
            </a:extLst>
          </p:cNvPr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Disclosure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E2FD21A-4E10-9E57-67F0-DB294D4FB6CF}"/>
              </a:ext>
            </a:extLst>
          </p:cNvPr>
          <p:cNvSpPr/>
          <p:nvPr/>
        </p:nvSpPr>
        <p:spPr>
          <a:xfrm>
            <a:off x="2423160" y="1600200"/>
            <a:ext cx="3611880" cy="3840480"/>
          </a:xfrm>
          <a:prstGeom prst="roundRect">
            <a:avLst>
              <a:gd name="adj" fmla="val 2278"/>
            </a:avLst>
          </a:prstGeom>
          <a:solidFill>
            <a:srgbClr val="1249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F4F8C35-7443-EE71-020C-354218EE7DDB}"/>
              </a:ext>
            </a:extLst>
          </p:cNvPr>
          <p:cNvSpPr txBox="1"/>
          <p:nvPr/>
        </p:nvSpPr>
        <p:spPr>
          <a:xfrm>
            <a:off x="2880360" y="18288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used it for</a:t>
            </a:r>
            <a:endParaRPr lang="en-US" sz="2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6F788E1-FCCE-F09D-119E-B89B39C57088}"/>
              </a:ext>
            </a:extLst>
          </p:cNvPr>
          <p:cNvSpPr txBox="1"/>
          <p:nvPr/>
        </p:nvSpPr>
        <p:spPr>
          <a:xfrm>
            <a:off x="2724912" y="2377440"/>
            <a:ext cx="30632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6F0F0"/>
                </a:solidFill>
              </a:rPr>
              <a:t>Every slide with a different theme, font, layout.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6F0F0"/>
                </a:solidFill>
              </a:rPr>
              <a:t>Cohesive presentation (Single color palette, font pairing, slide design).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6F0F0"/>
                </a:solidFill>
              </a:rPr>
              <a:t>Persona Images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085A2F2-9E3A-BA60-E0FC-95C59F81DB21}"/>
              </a:ext>
            </a:extLst>
          </p:cNvPr>
          <p:cNvSpPr/>
          <p:nvPr/>
        </p:nvSpPr>
        <p:spPr>
          <a:xfrm>
            <a:off x="6089904" y="1600200"/>
            <a:ext cx="3611880" cy="3840480"/>
          </a:xfrm>
          <a:prstGeom prst="roundRect">
            <a:avLst>
              <a:gd name="adj" fmla="val 2278"/>
            </a:avLst>
          </a:prstGeom>
          <a:solidFill>
            <a:srgbClr val="1249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E4EEE13-F12A-8C38-E534-69130AA5AF5F}"/>
              </a:ext>
            </a:extLst>
          </p:cNvPr>
          <p:cNvSpPr txBox="1"/>
          <p:nvPr/>
        </p:nvSpPr>
        <p:spPr>
          <a:xfrm>
            <a:off x="6972237" y="18288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8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used it</a:t>
            </a:r>
            <a:endParaRPr lang="en-US" sz="2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EBBBDF3-3596-809B-3542-72F2E4C3EAD2}"/>
              </a:ext>
            </a:extLst>
          </p:cNvPr>
          <p:cNvSpPr txBox="1"/>
          <p:nvPr/>
        </p:nvSpPr>
        <p:spPr>
          <a:xfrm>
            <a:off x="6391656" y="2377440"/>
            <a:ext cx="30632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6F0F0"/>
                </a:solidFill>
              </a:rPr>
              <a:t>Formatting, design, image generation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6F0F0"/>
                </a:solidFill>
              </a:rPr>
              <a:t>Reviewed and edited by each member.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9430E74-985E-2C8E-019D-B147A8DFAB8E}"/>
              </a:ext>
            </a:extLst>
          </p:cNvPr>
          <p:cNvSpPr txBox="1"/>
          <p:nvPr/>
        </p:nvSpPr>
        <p:spPr>
          <a:xfrm>
            <a:off x="548640" y="57652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250" i="1">
                <a:solidFill>
                  <a:srgbClr val="8F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/>
              <a:t>Tool used: Claude and Gemini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FF08526-5C40-9336-F829-947308CD67A5}"/>
              </a:ext>
            </a:extLst>
          </p:cNvPr>
          <p:cNvSpPr txBox="1"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Wanderwise  ·  Team F2026-Team4  ·  Sprint 0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88987A4-A5A7-6D66-C96F-21C811A2A339}"/>
              </a:ext>
            </a:extLst>
          </p:cNvPr>
          <p:cNvSpPr txBox="1"/>
          <p:nvPr/>
        </p:nvSpPr>
        <p:spPr>
          <a:xfrm>
            <a:off x="1124712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7227566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3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C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LINKS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Wiki Page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wiki is the single home for every deliverable: description, team, design, personas, sprints, and artifacts.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1109960" cy="960120"/>
          </a:xfrm>
          <a:prstGeom prst="roundRect">
            <a:avLst>
              <a:gd name="adj" fmla="val 8571"/>
            </a:avLst>
          </a:prstGeom>
          <a:solidFill>
            <a:srgbClr val="1249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514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CC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Wiki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251460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github.com/htmw/F2026-Team4/wiki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11109960" cy="960120"/>
          </a:xfrm>
          <a:prstGeom prst="roundRect">
            <a:avLst>
              <a:gd name="adj" fmla="val 8571"/>
            </a:avLst>
          </a:prstGeom>
          <a:solidFill>
            <a:srgbClr val="1249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68680" y="3657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CC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Repository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365760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github.com/htmw/F2026-Team4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Wanderwise  ·  Team F2026-Team4  ·  Sprint 0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24712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2121</Words>
  <Application>Microsoft Macintosh PowerPoint</Application>
  <PresentationFormat>Widescreen</PresentationFormat>
  <Paragraphs>355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Student: Ali Ghazi Ejaz (aejaz)</cp:lastModifiedBy>
  <cp:revision>38</cp:revision>
  <dcterms:created xsi:type="dcterms:W3CDTF">2026-09-21T01:13:54Z</dcterms:created>
  <dcterms:modified xsi:type="dcterms:W3CDTF">2026-09-21T03:10:54Z</dcterms:modified>
</cp:coreProperties>
</file>